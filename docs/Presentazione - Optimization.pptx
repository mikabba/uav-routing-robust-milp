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68" r:id="rId3"/>
    <p:sldId id="266" r:id="rId4"/>
    <p:sldId id="290" r:id="rId5"/>
    <p:sldId id="291" r:id="rId6"/>
    <p:sldId id="289" r:id="rId7"/>
    <p:sldId id="292" r:id="rId8"/>
    <p:sldId id="293" r:id="rId9"/>
    <p:sldId id="294" r:id="rId10"/>
    <p:sldId id="295" r:id="rId11"/>
    <p:sldId id="297" r:id="rId12"/>
    <p:sldId id="298" r:id="rId13"/>
    <p:sldId id="299" r:id="rId14"/>
    <p:sldId id="300" r:id="rId15"/>
    <p:sldId id="303" r:id="rId16"/>
    <p:sldId id="302" r:id="rId17"/>
    <p:sldId id="304" r:id="rId18"/>
    <p:sldId id="305" r:id="rId19"/>
    <p:sldId id="306" r:id="rId20"/>
    <p:sldId id="307" r:id="rId21"/>
    <p:sldId id="308" r:id="rId22"/>
    <p:sldId id="288"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Stile chi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77" autoAdjust="0"/>
    <p:restoredTop sz="73032" autoAdjust="0"/>
  </p:normalViewPr>
  <p:slideViewPr>
    <p:cSldViewPr snapToGrid="0">
      <p:cViewPr varScale="1">
        <p:scale>
          <a:sx n="61" d="100"/>
          <a:sy n="61" d="100"/>
        </p:scale>
        <p:origin x="138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F78830-A612-4CB8-82AE-754E5BCB5016}" type="datetimeFigureOut">
              <a:rPr lang="it-IT" smtClean="0"/>
              <a:t>19/12/2023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D6063-9CFE-43C5-A719-656035624075}" type="slidenum">
              <a:rPr lang="it-IT" smtClean="0"/>
              <a:t>‹N›</a:t>
            </a:fld>
            <a:endParaRPr lang="it-IT"/>
          </a:p>
        </p:txBody>
      </p:sp>
    </p:spTree>
    <p:extLst>
      <p:ext uri="{BB962C8B-B14F-4D97-AF65-F5344CB8AC3E}">
        <p14:creationId xmlns:p14="http://schemas.microsoft.com/office/powerpoint/2010/main" val="2434885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effectLst/>
                <a:latin typeface="Calibri" panose="020F0502020204030204" pitchFamily="34" charset="0"/>
                <a:ea typeface="Calibri" panose="020F0502020204030204" pitchFamily="34" charset="0"/>
                <a:cs typeface="Times New Roman" panose="02020603050405020304" pitchFamily="18" charset="0"/>
              </a:rPr>
              <a:t>Presento </a:t>
            </a:r>
            <a:r>
              <a:rPr lang="it-IT" sz="1800" dirty="0">
                <a:effectLst/>
                <a:latin typeface="Calibri" panose="020F0502020204030204" pitchFamily="34" charset="0"/>
                <a:ea typeface="Calibri" panose="020F0502020204030204" pitchFamily="34" charset="0"/>
                <a:cs typeface="Times New Roman" panose="02020603050405020304" pitchFamily="18" charset="0"/>
              </a:rPr>
              <a:t>il progetto dal titolo </a:t>
            </a:r>
            <a:r>
              <a:rPr lang="it-IT" sz="6000" b="1" dirty="0">
                <a:latin typeface="Helvetica" panose="020B0604020202020204" pitchFamily="34" charset="0"/>
                <a:cs typeface="Helvetica" panose="020B0604020202020204" pitchFamily="34" charset="0"/>
              </a:rPr>
              <a:t>Ottimizzazione Multi-Obiettivo per il Routing di UAV in Missioni PISR con Incertezza</a:t>
            </a:r>
            <a:r>
              <a:rPr lang="it-IT" sz="1800" dirty="0">
                <a:effectLst/>
                <a:latin typeface="Calibri" panose="020F0502020204030204" pitchFamily="34" charset="0"/>
                <a:ea typeface="Calibri" panose="020F0502020204030204" pitchFamily="34" charset="0"/>
                <a:cs typeface="Times New Roman" panose="02020603050405020304" pitchFamily="18" charset="0"/>
              </a:rPr>
              <a:t>, per il corso di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Optimization</a:t>
            </a:r>
            <a:r>
              <a:rPr lang="it-IT" sz="1800" dirty="0">
                <a:effectLst/>
                <a:latin typeface="Calibri" panose="020F0502020204030204" pitchFamily="34" charset="0"/>
                <a:ea typeface="Calibri" panose="020F0502020204030204" pitchFamily="34" charset="0"/>
                <a:cs typeface="Times New Roman" panose="02020603050405020304" pitchFamily="18" charset="0"/>
              </a:rPr>
              <a:t> and Control.</a:t>
            </a:r>
          </a:p>
          <a:p>
            <a:endParaRPr lang="it-IT" dirty="0"/>
          </a:p>
        </p:txBody>
      </p:sp>
      <p:sp>
        <p:nvSpPr>
          <p:cNvPr id="4" name="Segnaposto numero diapositiva 3"/>
          <p:cNvSpPr>
            <a:spLocks noGrp="1"/>
          </p:cNvSpPr>
          <p:nvPr>
            <p:ph type="sldNum" sz="quarter" idx="5"/>
          </p:nvPr>
        </p:nvSpPr>
        <p:spPr/>
        <p:txBody>
          <a:bodyPr/>
          <a:lstStyle/>
          <a:p>
            <a:fld id="{74ED6063-9CFE-43C5-A719-656035624075}" type="slidenum">
              <a:rPr lang="it-IT" smtClean="0"/>
              <a:t>1</a:t>
            </a:fld>
            <a:endParaRPr lang="it-IT"/>
          </a:p>
        </p:txBody>
      </p:sp>
    </p:spTree>
    <p:extLst>
      <p:ext uri="{BB962C8B-B14F-4D97-AF65-F5344CB8AC3E}">
        <p14:creationId xmlns:p14="http://schemas.microsoft.com/office/powerpoint/2010/main" val="1675116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Nel seguente elaborato, dopo una breve introduzione, si analizza:</a:t>
            </a:r>
          </a:p>
          <a:p>
            <a:r>
              <a:rPr lang="it-IT" dirty="0"/>
              <a:t>- La descrizione del problema</a:t>
            </a:r>
          </a:p>
          <a:p>
            <a:r>
              <a:rPr lang="it-IT" dirty="0"/>
              <a:t>- La formulazione del problema</a:t>
            </a:r>
          </a:p>
          <a:p>
            <a:r>
              <a:rPr lang="it-IT" dirty="0"/>
              <a:t>- La gestione della natura multi obiettivo del problema tramite una funzione obiettivo aggregata</a:t>
            </a:r>
          </a:p>
          <a:p>
            <a:r>
              <a:rPr lang="it-IT" dirty="0"/>
              <a:t>- Si valuta l’istanza del problema di ottimizzazione e il modello di ottimizzazione robusta assoluta per gestire l’incertezza </a:t>
            </a:r>
          </a:p>
          <a:p>
            <a:r>
              <a:rPr lang="it-IT" dirty="0"/>
              <a:t>- Si analizza l’ottimizzazione impiegata per ottenere una soluzione ottima</a:t>
            </a:r>
          </a:p>
          <a:p>
            <a:r>
              <a:rPr lang="it-IT" dirty="0"/>
              <a:t>- I risultati seguiti da un’analisi dei risultati</a:t>
            </a:r>
          </a:p>
          <a:p>
            <a:r>
              <a:rPr lang="it-IT" dirty="0"/>
              <a:t>- Le conclusioni e gli sviluppi futuri</a:t>
            </a:r>
          </a:p>
          <a:p>
            <a:endParaRPr lang="it-IT" dirty="0"/>
          </a:p>
        </p:txBody>
      </p:sp>
      <p:sp>
        <p:nvSpPr>
          <p:cNvPr id="4" name="Segnaposto numero diapositiva 3"/>
          <p:cNvSpPr>
            <a:spLocks noGrp="1"/>
          </p:cNvSpPr>
          <p:nvPr>
            <p:ph type="sldNum" sz="quarter" idx="5"/>
          </p:nvPr>
        </p:nvSpPr>
        <p:spPr/>
        <p:txBody>
          <a:bodyPr/>
          <a:lstStyle/>
          <a:p>
            <a:fld id="{74ED6063-9CFE-43C5-A719-656035624075}" type="slidenum">
              <a:rPr lang="it-IT" smtClean="0"/>
              <a:t>2</a:t>
            </a:fld>
            <a:endParaRPr lang="it-IT"/>
          </a:p>
        </p:txBody>
      </p:sp>
    </p:spTree>
    <p:extLst>
      <p:ext uri="{BB962C8B-B14F-4D97-AF65-F5344CB8AC3E}">
        <p14:creationId xmlns:p14="http://schemas.microsoft.com/office/powerpoint/2010/main" val="1298462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solidFill>
                  <a:srgbClr val="0F0F0F"/>
                </a:solidFill>
                <a:latin typeface="Helvetica" panose="020B0604020202020204" pitchFamily="34" charset="0"/>
                <a:cs typeface="Helvetica" panose="020B0604020202020204" pitchFamily="34" charset="0"/>
              </a:rPr>
              <a:t>Intelligence, </a:t>
            </a:r>
            <a:r>
              <a:rPr lang="it-IT" sz="1200" dirty="0" err="1">
                <a:solidFill>
                  <a:srgbClr val="0F0F0F"/>
                </a:solidFill>
                <a:latin typeface="Helvetica" panose="020B0604020202020204" pitchFamily="34" charset="0"/>
                <a:cs typeface="Helvetica" panose="020B0604020202020204" pitchFamily="34" charset="0"/>
              </a:rPr>
              <a:t>Surveillance</a:t>
            </a:r>
            <a:r>
              <a:rPr lang="it-IT" sz="1200" dirty="0">
                <a:solidFill>
                  <a:srgbClr val="0F0F0F"/>
                </a:solidFill>
                <a:latin typeface="Helvetica" panose="020B0604020202020204" pitchFamily="34" charset="0"/>
                <a:cs typeface="Helvetica" panose="020B0604020202020204" pitchFamily="34" charset="0"/>
              </a:rPr>
              <a:t> and </a:t>
            </a:r>
            <a:r>
              <a:rPr lang="it-IT" sz="1200" dirty="0" err="1">
                <a:solidFill>
                  <a:srgbClr val="0F0F0F"/>
                </a:solidFill>
                <a:latin typeface="Helvetica" panose="020B0604020202020204" pitchFamily="34" charset="0"/>
                <a:cs typeface="Helvetica" panose="020B0604020202020204" pitchFamily="34" charset="0"/>
              </a:rPr>
              <a:t>Reconnaissance</a:t>
            </a:r>
            <a:r>
              <a:rPr lang="it-IT" sz="1200" dirty="0">
                <a:solidFill>
                  <a:srgbClr val="0F0F0F"/>
                </a:solidFill>
                <a:latin typeface="Helvetica" panose="020B0604020202020204" pitchFamily="34" charset="0"/>
                <a:cs typeface="Helvetica" panose="020B0604020202020204" pitchFamily="34" charset="0"/>
              </a:rPr>
              <a:t> (ISR) è insieme integrato di attività che forniscono le basi per tutte le operazioni militari, al fine di avere una maggiore consapevolezza delle condizioni di terra, aria e mare.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dirty="0">
              <a:solidFill>
                <a:srgbClr val="0F0F0F"/>
              </a:solidFill>
              <a:latin typeface="Helvetica" panose="020B0604020202020204" pitchFamily="34" charset="0"/>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b="0" i="0" dirty="0">
                <a:solidFill>
                  <a:srgbClr val="374151"/>
                </a:solidFill>
                <a:effectLst/>
                <a:latin typeface="Söhne"/>
              </a:rPr>
              <a:t>Per Intelligence si intende il prodotto finale derivante dalla sorveglianza e dalla ricognizione, fuso con altre informazioni.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b="0" i="0" dirty="0">
                <a:solidFill>
                  <a:srgbClr val="374151"/>
                </a:solidFill>
                <a:effectLst/>
                <a:latin typeface="Söhne"/>
              </a:rPr>
              <a:t>La differenza tra sorveglianza e ricognizione riguarda il tempo e la specificità. La sorveglianza è un'attività più prolungata e deliberata, mentre le missioni di ricognizione sono generalmente rapide e mirate per recuperare informazioni specifiche</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b="0" i="0" dirty="0">
              <a:solidFill>
                <a:srgbClr val="0F0F0F"/>
              </a:solidFill>
              <a:effectLst/>
              <a:latin typeface="Helvetica" panose="020B0604020202020204" pitchFamily="34" charset="0"/>
              <a:cs typeface="Helvetica" panose="020B0604020202020204" pitchFamily="34" charset="0"/>
            </a:endParaRPr>
          </a:p>
          <a:p>
            <a:pPr algn="l"/>
            <a:r>
              <a:rPr lang="it-IT" b="0" i="0" dirty="0">
                <a:solidFill>
                  <a:srgbClr val="374151"/>
                </a:solidFill>
                <a:effectLst/>
                <a:latin typeface="Söhne"/>
              </a:rPr>
              <a:t>Nel ventunesimo secolo, l'esecuzione di queste attività è agevolata da sistemi avanzati, quali gli </a:t>
            </a:r>
            <a:r>
              <a:rPr lang="it-IT" b="0" i="0" dirty="0" err="1">
                <a:solidFill>
                  <a:srgbClr val="374151"/>
                </a:solidFill>
                <a:effectLst/>
                <a:latin typeface="Söhne"/>
              </a:rPr>
              <a:t>Unmanned</a:t>
            </a:r>
            <a:r>
              <a:rPr lang="it-IT" b="0" i="0" dirty="0">
                <a:solidFill>
                  <a:srgbClr val="374151"/>
                </a:solidFill>
                <a:effectLst/>
                <a:latin typeface="Söhne"/>
              </a:rPr>
              <a:t> </a:t>
            </a:r>
            <a:r>
              <a:rPr lang="it-IT" b="0" i="0" dirty="0" err="1">
                <a:solidFill>
                  <a:srgbClr val="374151"/>
                </a:solidFill>
                <a:effectLst/>
                <a:latin typeface="Söhne"/>
              </a:rPr>
              <a:t>Aerial</a:t>
            </a:r>
            <a:r>
              <a:rPr lang="it-IT" b="0" i="0" dirty="0">
                <a:solidFill>
                  <a:srgbClr val="374151"/>
                </a:solidFill>
                <a:effectLst/>
                <a:latin typeface="Söhne"/>
              </a:rPr>
              <a:t> </a:t>
            </a:r>
            <a:r>
              <a:rPr lang="it-IT" b="0" i="0" dirty="0" err="1">
                <a:solidFill>
                  <a:srgbClr val="374151"/>
                </a:solidFill>
                <a:effectLst/>
                <a:latin typeface="Söhne"/>
              </a:rPr>
              <a:t>Vehicles</a:t>
            </a:r>
            <a:r>
              <a:rPr lang="it-IT" b="0" i="0" dirty="0">
                <a:solidFill>
                  <a:srgbClr val="374151"/>
                </a:solidFill>
                <a:effectLst/>
                <a:latin typeface="Söhne"/>
              </a:rPr>
              <a:t> (</a:t>
            </a:r>
            <a:r>
              <a:rPr lang="it-IT" b="0" i="0" dirty="0" err="1">
                <a:solidFill>
                  <a:srgbClr val="374151"/>
                </a:solidFill>
                <a:effectLst/>
                <a:latin typeface="Söhne"/>
              </a:rPr>
              <a:t>UAVs</a:t>
            </a:r>
            <a:r>
              <a:rPr lang="it-IT" b="0" i="0" dirty="0">
                <a:solidFill>
                  <a:srgbClr val="374151"/>
                </a:solidFill>
                <a:effectLst/>
                <a:latin typeface="Söhne"/>
              </a:rPr>
              <a:t>).</a:t>
            </a:r>
          </a:p>
          <a:p>
            <a:pPr algn="l"/>
            <a:endParaRPr lang="it-IT" b="0" i="0" dirty="0">
              <a:solidFill>
                <a:srgbClr val="374151"/>
              </a:solidFill>
              <a:effectLst/>
              <a:latin typeface="Söhne"/>
            </a:endParaRPr>
          </a:p>
          <a:p>
            <a:pPr algn="l"/>
            <a:r>
              <a:rPr lang="it-IT" b="0" i="0" dirty="0">
                <a:solidFill>
                  <a:srgbClr val="374151"/>
                </a:solidFill>
                <a:effectLst/>
                <a:latin typeface="Söhne"/>
              </a:rPr>
              <a:t>Una volta acquisite le informazioni, è cruciale consegnarle regolarmente alla stazione di controllo. La valutazione dell'importanza delle diverse posizioni può variare significativamente, da un livello minimo a una criticità estrema.</a:t>
            </a:r>
          </a:p>
          <a:p>
            <a:pPr algn="l"/>
            <a:endParaRPr lang="it-IT" b="0" i="0" dirty="0">
              <a:solidFill>
                <a:srgbClr val="374151"/>
              </a:solidFill>
              <a:effectLst/>
              <a:latin typeface="Söhne"/>
            </a:endParaRPr>
          </a:p>
          <a:p>
            <a:pPr algn="l"/>
            <a:r>
              <a:rPr lang="it-IT" b="0" i="0" dirty="0">
                <a:solidFill>
                  <a:srgbClr val="374151"/>
                </a:solidFill>
                <a:effectLst/>
                <a:latin typeface="Söhne"/>
              </a:rPr>
              <a:t>Quando si pianificano le missioni di monitoraggio, diventa fondamentale adattare la frequenza delle visite degli UAV in modo proporzionato al livello di importanza assegnato a ciascuna posizione.</a:t>
            </a:r>
          </a:p>
          <a:p>
            <a:pPr algn="l"/>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3</a:t>
            </a:fld>
            <a:endParaRPr lang="it-IT"/>
          </a:p>
        </p:txBody>
      </p:sp>
    </p:spTree>
    <p:extLst>
      <p:ext uri="{BB962C8B-B14F-4D97-AF65-F5344CB8AC3E}">
        <p14:creationId xmlns:p14="http://schemas.microsoft.com/office/powerpoint/2010/main" val="31521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Nella pianificazione delle missioni di ISR persistente con una flotta di UAV, si affronta il complesso problema del </a:t>
            </a:r>
            <a:r>
              <a:rPr lang="it-IT" dirty="0" err="1"/>
              <a:t>routing</a:t>
            </a:r>
            <a:r>
              <a:rPr lang="it-IT" dirty="0"/>
              <a:t> su un insieme predefinito di posizioni definite come task.</a:t>
            </a:r>
          </a:p>
          <a:p>
            <a:pPr algn="l"/>
            <a:r>
              <a:rPr lang="it-IT" dirty="0"/>
              <a:t>Si intende trovare una soluzione del problema prima che la missione inizi, al fine di stabilire un numero di UAV da acquistare, a cui assegnare una sequenza di task. </a:t>
            </a:r>
            <a:br>
              <a:rPr lang="it-IT" b="0" i="0" dirty="0">
                <a:solidFill>
                  <a:srgbClr val="000000"/>
                </a:solidFill>
                <a:effectLst/>
                <a:latin typeface="Söhne"/>
              </a:rPr>
            </a:br>
            <a:r>
              <a:rPr lang="it-IT" dirty="0"/>
              <a:t>Si assume che ogni task deve essere servito dallo stesso UAV per tutta la missione. Ogni UAV dopo aver acquisito informazioni dai task assegnati, ritorna alla stazione di controllo e la sequenza dei task viene ripetuta per tutta la durata della missione.</a:t>
            </a:r>
          </a:p>
          <a:p>
            <a:pPr algn="l"/>
            <a:r>
              <a:rPr lang="it-IT" dirty="0"/>
              <a:t>L’ambiente operativo potrebbe presentare informazioni incomplete o mutevoli, rendendo difficile predire con certezza i pesi associati ai task.</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4</a:t>
            </a:fld>
            <a:endParaRPr lang="it-IT"/>
          </a:p>
        </p:txBody>
      </p:sp>
    </p:spTree>
    <p:extLst>
      <p:ext uri="{BB962C8B-B14F-4D97-AF65-F5344CB8AC3E}">
        <p14:creationId xmlns:p14="http://schemas.microsoft.com/office/powerpoint/2010/main" val="1686663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Nel contesto delle operazioni ISR, sono adottate diverse metriche per valutare la pianificazione delle missioni.</a:t>
            </a:r>
          </a:p>
          <a:p>
            <a:pPr algn="l"/>
            <a:r>
              <a:rPr lang="it-IT" dirty="0"/>
              <a:t>Per ogni task, si considera la metrica Tempo di Consegna , definito come il periodo di tempo trascorso dal completamento del task fino al ritorno dei droni UAV al deposito. Questo intervallo temporale include anche il tempo impiegato per soddisfare altri task intermedi durante la missione.</a:t>
            </a:r>
          </a:p>
          <a:p>
            <a:pPr algn="l"/>
            <a:endParaRPr lang="it-IT" dirty="0"/>
          </a:p>
          <a:p>
            <a:pPr algn="l"/>
            <a:r>
              <a:rPr lang="it-IT" dirty="0"/>
              <a:t>è cruciale valutare la periodicità delle visite a specifici task per soddisfare la priorità delle informazioni. A tal fine, si introduce la metrica </a:t>
            </a:r>
            <a:r>
              <a:rPr lang="it-IT" dirty="0" err="1"/>
              <a:t>Revisit</a:t>
            </a:r>
            <a:r>
              <a:rPr lang="it-IT" dirty="0"/>
              <a:t> </a:t>
            </a:r>
            <a:r>
              <a:rPr lang="it-IT" dirty="0" err="1"/>
              <a:t>Period</a:t>
            </a:r>
            <a:r>
              <a:rPr lang="it-IT" dirty="0"/>
              <a:t> </a:t>
            </a:r>
            <a:r>
              <a:rPr lang="it-IT" dirty="0" err="1"/>
              <a:t>Ri</a:t>
            </a:r>
            <a:r>
              <a:rPr lang="it-IT" dirty="0"/>
              <a:t> , che rappresenta l’intervallo di tempo tra due visite successive di un drone UAV a un determinato task.</a:t>
            </a:r>
          </a:p>
          <a:p>
            <a:pPr algn="l"/>
            <a:endParaRPr lang="it-IT" b="0" i="0" dirty="0">
              <a:effectLst/>
              <a:latin typeface="Söhne"/>
            </a:endParaRPr>
          </a:p>
          <a:p>
            <a:pPr algn="l"/>
            <a:r>
              <a:rPr lang="it-IT" b="0" i="0" dirty="0">
                <a:solidFill>
                  <a:srgbClr val="374151"/>
                </a:solidFill>
                <a:effectLst/>
                <a:latin typeface="Söhne"/>
              </a:rPr>
              <a:t>La spesa per l'acquisto dei droni rappresenta un elemento essenziale per determinare la quantità ottimale di droni necessari per la missione. Un aspetto significativo è la considerazione della variazione dei costi in relazione al numero di droni impiegati, sottolineando la necessità di un approccio attento per ottimizzare l'allocazione delle risorse.</a:t>
            </a:r>
          </a:p>
          <a:p>
            <a:pPr algn="l"/>
            <a:r>
              <a:rPr lang="it-IT" b="0" i="0" dirty="0">
                <a:solidFill>
                  <a:srgbClr val="374151"/>
                </a:solidFill>
                <a:effectLst/>
                <a:latin typeface="Söhne"/>
              </a:rPr>
              <a:t>Inoltre, l'acquisto di droni è soggetto a un limite massimo, il che implica una restrizione nella disponibilità di risorse finanziarie.</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5</a:t>
            </a:fld>
            <a:endParaRPr lang="it-IT"/>
          </a:p>
        </p:txBody>
      </p:sp>
    </p:spTree>
    <p:extLst>
      <p:ext uri="{BB962C8B-B14F-4D97-AF65-F5344CB8AC3E}">
        <p14:creationId xmlns:p14="http://schemas.microsoft.com/office/powerpoint/2010/main" val="2867068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b="0" i="0" dirty="0">
                <a:solidFill>
                  <a:srgbClr val="000000"/>
                </a:solidFill>
                <a:effectLst/>
                <a:latin typeface="Söhne"/>
              </a:rPr>
              <a:t>L'obiettivo del progetto è proporre una formulazione Mixed-</a:t>
            </a:r>
            <a:r>
              <a:rPr lang="it-IT" b="0" i="0" dirty="0" err="1">
                <a:solidFill>
                  <a:srgbClr val="000000"/>
                </a:solidFill>
                <a:effectLst/>
                <a:latin typeface="Söhne"/>
              </a:rPr>
              <a:t>Integer</a:t>
            </a:r>
            <a:r>
              <a:rPr lang="it-IT" b="0" i="0" dirty="0">
                <a:solidFill>
                  <a:srgbClr val="000000"/>
                </a:solidFill>
                <a:effectLst/>
                <a:latin typeface="Söhne"/>
              </a:rPr>
              <a:t> Linear Programming del problema di ottimizzazione del </a:t>
            </a:r>
            <a:r>
              <a:rPr lang="it-IT" b="0" i="0" dirty="0" err="1">
                <a:solidFill>
                  <a:srgbClr val="000000"/>
                </a:solidFill>
                <a:effectLst/>
                <a:latin typeface="Söhne"/>
              </a:rPr>
              <a:t>routing</a:t>
            </a:r>
            <a:r>
              <a:rPr lang="it-IT" b="0" i="0" dirty="0">
                <a:solidFill>
                  <a:srgbClr val="000000"/>
                </a:solidFill>
                <a:effectLst/>
                <a:latin typeface="Söhne"/>
              </a:rPr>
              <a:t> di UAV in missioni di </a:t>
            </a:r>
            <a:r>
              <a:rPr lang="it-IT" b="0" i="0" dirty="0" err="1">
                <a:solidFill>
                  <a:srgbClr val="000000"/>
                </a:solidFill>
                <a:effectLst/>
                <a:latin typeface="Söhne"/>
              </a:rPr>
              <a:t>pisr</a:t>
            </a:r>
            <a:r>
              <a:rPr lang="it-IT" b="0" i="0" dirty="0">
                <a:solidFill>
                  <a:srgbClr val="000000"/>
                </a:solidFill>
                <a:effectLst/>
                <a:latin typeface="Söhne"/>
              </a:rPr>
              <a:t>. </a:t>
            </a:r>
          </a:p>
          <a:p>
            <a:pPr algn="l"/>
            <a:r>
              <a:rPr lang="it-IT" b="0" i="0" dirty="0">
                <a:solidFill>
                  <a:srgbClr val="000000"/>
                </a:solidFill>
                <a:effectLst/>
                <a:latin typeface="Söhne"/>
              </a:rPr>
              <a:t>Da un lato, si mira a minimizzare la somma pesata dei periodi di rivisita, considerando le priorità assegnate a ciascun task, e, dall'altro, si punta alla minimizzazione del costo di acquisto dei droni. </a:t>
            </a:r>
          </a:p>
          <a:p>
            <a:pPr algn="l"/>
            <a:endParaRPr lang="it-IT" b="0" i="0" dirty="0">
              <a:solidFill>
                <a:srgbClr val="000000"/>
              </a:solidFill>
              <a:effectLst/>
              <a:latin typeface="Söhne"/>
            </a:endParaRPr>
          </a:p>
          <a:p>
            <a:pPr algn="l"/>
            <a:r>
              <a:rPr lang="it-IT" b="0" i="0" dirty="0">
                <a:solidFill>
                  <a:srgbClr val="000000"/>
                </a:solidFill>
                <a:effectLst/>
                <a:latin typeface="Söhne"/>
              </a:rPr>
              <a:t>Si considera un contesto operativo costituito da 8 posizioni, le cui distanze vengono estratte da una distribuzione uniforme discreta nell'intervallo [1,100], e si stabilisce un limite massimo di 7 UAV acquistabili allo stesso prezzo.</a:t>
            </a:r>
          </a:p>
          <a:p>
            <a:pPr algn="l"/>
            <a:endParaRPr lang="it-IT" b="0" i="0" dirty="0">
              <a:solidFill>
                <a:srgbClr val="000000"/>
              </a:solidFill>
              <a:effectLst/>
              <a:latin typeface="Söhne"/>
            </a:endParaRPr>
          </a:p>
          <a:p>
            <a:pPr algn="l"/>
            <a:r>
              <a:rPr lang="it-IT" b="0" i="0" dirty="0">
                <a:solidFill>
                  <a:srgbClr val="000000"/>
                </a:solidFill>
                <a:effectLst/>
                <a:latin typeface="Söhne"/>
              </a:rPr>
              <a:t>Si intende valutare l'incertezza, considerata in tre scenari distinti: ottimistico, medio e pessimistico. Questa incertezza è strettamente legata al peso dei periodi di rivisita dei task più critici, introducendo una componente dinamica e adattabile nell'approccio complessivo.</a:t>
            </a:r>
          </a:p>
          <a:p>
            <a:br>
              <a:rPr lang="it-IT" b="0" i="0" dirty="0">
                <a:solidFill>
                  <a:srgbClr val="000000"/>
                </a:solidFill>
                <a:effectLst/>
                <a:latin typeface="Söhne"/>
              </a:rPr>
            </a:b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6</a:t>
            </a:fld>
            <a:endParaRPr lang="it-IT"/>
          </a:p>
        </p:txBody>
      </p:sp>
    </p:spTree>
    <p:extLst>
      <p:ext uri="{BB962C8B-B14F-4D97-AF65-F5344CB8AC3E}">
        <p14:creationId xmlns:p14="http://schemas.microsoft.com/office/powerpoint/2010/main" val="255864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Il problema di pianificazione delle missioni PISR è formalizzato attraverso la Programmazione Lineare Intera Mista (MILP). </a:t>
            </a:r>
          </a:p>
          <a:p>
            <a:pPr algn="l"/>
            <a:endParaRPr lang="it-IT" dirty="0"/>
          </a:p>
          <a:p>
            <a:pPr algn="l"/>
            <a:r>
              <a:rPr lang="it-IT" dirty="0"/>
              <a:t>La modellazione del problema si basa sulla rappresentazione dei nodi come grafo, in cui ogni nodo rappresenta un task e gli archi rappresentano i viaggi possibili dei sistemi UAV. </a:t>
            </a:r>
          </a:p>
          <a:p>
            <a:pPr algn="l"/>
            <a:endParaRPr lang="it-IT" dirty="0"/>
          </a:p>
          <a:p>
            <a:pPr algn="l"/>
            <a:r>
              <a:rPr lang="it-IT" dirty="0"/>
              <a:t>Questa rappresentazione consente di trattare il problema come una variante del problema del commesso viaggiatore (TSP), arricchendolo con vincoli specifici derivanti dalle esigenze delle missioni PISR.</a:t>
            </a:r>
          </a:p>
          <a:p>
            <a:pPr algn="l"/>
            <a:endParaRPr lang="it-IT" dirty="0"/>
          </a:p>
          <a:p>
            <a:pPr algn="l"/>
            <a:r>
              <a:rPr lang="it-IT" dirty="0"/>
              <a:t>Si considerano finestre temporali associate a ciascun task e si introduce inoltre una gestione accurata delle lunghezze dei tour, imponendo vincoli sulla distanza complessiva da percorrere dalla stazione di controllo a ciascun task e ritorno al deposito.</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7</a:t>
            </a:fld>
            <a:endParaRPr lang="it-IT"/>
          </a:p>
        </p:txBody>
      </p:sp>
    </p:spTree>
    <p:extLst>
      <p:ext uri="{BB962C8B-B14F-4D97-AF65-F5344CB8AC3E}">
        <p14:creationId xmlns:p14="http://schemas.microsoft.com/office/powerpoint/2010/main" val="819092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Si definisce la notazione necessaria per la formulazione MILP del problema in esame.</a:t>
            </a:r>
          </a:p>
          <a:p>
            <a:pPr algn="l"/>
            <a:endParaRPr lang="it-IT" b="0" i="0" dirty="0">
              <a:effectLst/>
              <a:latin typeface="Söhne"/>
            </a:endParaRP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L ‘insieme T è l’i</a:t>
            </a:r>
            <a:r>
              <a:rPr lang="it-IT" sz="1200" b="0" i="0" dirty="0">
                <a:solidFill>
                  <a:srgbClr val="374151"/>
                </a:solidFill>
                <a:effectLst/>
                <a:latin typeface="Helvetica" panose="020B0604020202020204" pitchFamily="34" charset="0"/>
                <a:cs typeface="Helvetica" panose="020B0604020202020204" pitchFamily="34" charset="0"/>
              </a:rPr>
              <a:t>nsieme dei task da esplorare.</a:t>
            </a:r>
          </a:p>
          <a:p>
            <a:pPr algn="l">
              <a:buFont typeface="Arial" panose="020B0604020202020204" pitchFamily="34" charset="0"/>
              <a:buChar char="•"/>
            </a:pPr>
            <a:r>
              <a:rPr lang="it-IT" sz="1200" b="1" i="0" dirty="0" err="1">
                <a:solidFill>
                  <a:srgbClr val="374151"/>
                </a:solidFill>
                <a:effectLst/>
                <a:latin typeface="Helvetica" panose="020B0604020202020204" pitchFamily="34" charset="0"/>
                <a:cs typeface="Helvetica" panose="020B0604020202020204" pitchFamily="34" charset="0"/>
              </a:rPr>
              <a:t>T</a:t>
            </a:r>
            <a:r>
              <a:rPr lang="it-IT" sz="1200" b="1" i="0" baseline="-25000" dirty="0" err="1">
                <a:solidFill>
                  <a:srgbClr val="374151"/>
                </a:solidFill>
                <a:effectLst/>
                <a:latin typeface="Helvetica" panose="020B0604020202020204" pitchFamily="34" charset="0"/>
                <a:cs typeface="Helvetica" panose="020B0604020202020204" pitchFamily="34" charset="0"/>
              </a:rPr>
              <a:t>d</a:t>
            </a:r>
            <a:r>
              <a:rPr lang="it-IT" sz="1200" b="0" i="0" baseline="-25000" dirty="0">
                <a:solidFill>
                  <a:srgbClr val="374151"/>
                </a:solidFill>
                <a:effectLst/>
                <a:latin typeface="Helvetica" panose="020B0604020202020204" pitchFamily="34" charset="0"/>
                <a:cs typeface="Helvetica" panose="020B0604020202020204" pitchFamily="34" charset="0"/>
              </a:rPr>
              <a:t> </a:t>
            </a:r>
            <a:r>
              <a:rPr lang="it-IT" sz="1200" b="0" i="0" dirty="0">
                <a:solidFill>
                  <a:srgbClr val="374151"/>
                </a:solidFill>
                <a:effectLst/>
                <a:latin typeface="Helvetica" panose="020B0604020202020204" pitchFamily="34" charset="0"/>
                <a:cs typeface="Helvetica" panose="020B0604020202020204" pitchFamily="34" charset="0"/>
              </a:rPr>
              <a:t> è il task relativo alla posizione della stazione di controllo.</a:t>
            </a: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G(V, E)</a:t>
            </a:r>
            <a:r>
              <a:rPr lang="it-IT" sz="1200" b="0" i="0" dirty="0">
                <a:solidFill>
                  <a:srgbClr val="374151"/>
                </a:solidFill>
                <a:effectLst/>
                <a:latin typeface="Helvetica" panose="020B0604020202020204" pitchFamily="34" charset="0"/>
                <a:cs typeface="Helvetica" panose="020B0604020202020204" pitchFamily="34" charset="0"/>
              </a:rPr>
              <a:t>: Grafo rappresentante il problema.</a:t>
            </a: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V</a:t>
            </a:r>
            <a:r>
              <a:rPr lang="it-IT" sz="1200" b="0" i="0" dirty="0">
                <a:solidFill>
                  <a:srgbClr val="374151"/>
                </a:solidFill>
                <a:effectLst/>
                <a:latin typeface="Helvetica" panose="020B0604020202020204" pitchFamily="34" charset="0"/>
                <a:cs typeface="Helvetica" panose="020B0604020202020204" pitchFamily="34" charset="0"/>
              </a:rPr>
              <a:t>: Insieme dei nodi, rappresenta tutte le posizioni (task) compresa quella della stazione di controllo</a:t>
            </a: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E</a:t>
            </a:r>
            <a:r>
              <a:rPr lang="it-IT" sz="1200" b="0" i="0" dirty="0">
                <a:solidFill>
                  <a:srgbClr val="374151"/>
                </a:solidFill>
                <a:effectLst/>
                <a:latin typeface="Helvetica" panose="020B0604020202020204" pitchFamily="34" charset="0"/>
                <a:cs typeface="Helvetica" panose="020B0604020202020204" pitchFamily="34" charset="0"/>
              </a:rPr>
              <a:t>: Insieme degli archi per ogni coppia di nodi V.</a:t>
            </a: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wᵢ</a:t>
            </a:r>
            <a:r>
              <a:rPr lang="it-IT" sz="1200" b="0" i="0" dirty="0">
                <a:solidFill>
                  <a:srgbClr val="374151"/>
                </a:solidFill>
                <a:effectLst/>
                <a:latin typeface="Helvetica" panose="020B0604020202020204" pitchFamily="34" charset="0"/>
                <a:cs typeface="Helvetica" panose="020B0604020202020204" pitchFamily="34" charset="0"/>
              </a:rPr>
              <a:t>: Priorità percentuale associata ad ogni task.</a:t>
            </a: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p</a:t>
            </a:r>
            <a:r>
              <a:rPr lang="it-IT" sz="1200" b="0" i="0" dirty="0">
                <a:solidFill>
                  <a:srgbClr val="374151"/>
                </a:solidFill>
                <a:effectLst/>
                <a:latin typeface="Helvetica" panose="020B0604020202020204" pitchFamily="34" charset="0"/>
                <a:cs typeface="Helvetica" panose="020B0604020202020204" pitchFamily="34" charset="0"/>
              </a:rPr>
              <a:t>: Prezzo di acquisto per ciascun drone.</a:t>
            </a: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nᵥ</a:t>
            </a:r>
            <a:r>
              <a:rPr lang="it-IT" sz="1200" b="0" i="0" dirty="0">
                <a:solidFill>
                  <a:srgbClr val="374151"/>
                </a:solidFill>
                <a:effectLst/>
                <a:latin typeface="Helvetica" panose="020B0604020202020204" pitchFamily="34" charset="0"/>
                <a:cs typeface="Helvetica" panose="020B0604020202020204" pitchFamily="34" charset="0"/>
              </a:rPr>
              <a:t>: Numero massimo di droni acquistabili.</a:t>
            </a:r>
          </a:p>
          <a:p>
            <a:pPr algn="l">
              <a:buFont typeface="Arial" panose="020B0604020202020204" pitchFamily="34" charset="0"/>
              <a:buChar char="•"/>
            </a:pPr>
            <a:r>
              <a:rPr lang="it-IT" sz="1200" b="1" i="0" dirty="0">
                <a:solidFill>
                  <a:srgbClr val="374151"/>
                </a:solidFill>
                <a:effectLst/>
                <a:latin typeface="Helvetica" panose="020B0604020202020204" pitchFamily="34" charset="0"/>
                <a:cs typeface="Helvetica" panose="020B0604020202020204" pitchFamily="34" charset="0"/>
              </a:rPr>
              <a:t>cᵢⱼ</a:t>
            </a:r>
            <a:r>
              <a:rPr lang="it-IT" sz="1200" b="0" i="0" dirty="0">
                <a:solidFill>
                  <a:srgbClr val="374151"/>
                </a:solidFill>
                <a:effectLst/>
                <a:latin typeface="Helvetica" panose="020B0604020202020204" pitchFamily="34" charset="0"/>
                <a:cs typeface="Helvetica" panose="020B0604020202020204" pitchFamily="34" charset="0"/>
              </a:rPr>
              <a:t>: Tempo di viaggio diretto dal nodo i al nodo j, definito per connessioni tra task e connessioni tra un task e la stazione di controllo.</a:t>
            </a:r>
          </a:p>
          <a:p>
            <a:pPr algn="l"/>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8</a:t>
            </a:fld>
            <a:endParaRPr lang="it-IT"/>
          </a:p>
        </p:txBody>
      </p:sp>
    </p:spTree>
    <p:extLst>
      <p:ext uri="{BB962C8B-B14F-4D97-AF65-F5344CB8AC3E}">
        <p14:creationId xmlns:p14="http://schemas.microsoft.com/office/powerpoint/2010/main" val="4099439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Si considerano le seguenti variabili decisionali:</a:t>
            </a:r>
          </a:p>
          <a:p>
            <a:pPr algn="l"/>
            <a:r>
              <a:rPr lang="it-IT" dirty="0"/>
              <a:t>- </a:t>
            </a:r>
            <a:r>
              <a:rPr lang="it-IT" dirty="0" err="1"/>
              <a:t>xij</a:t>
            </a:r>
            <a:r>
              <a:rPr lang="it-IT" dirty="0"/>
              <a:t>  una matrice binaria che assume 1 se  all’arco (i, j)  è assegnato un UAV 0 Altrimenti </a:t>
            </a:r>
          </a:p>
          <a:p>
            <a:pPr algn="l"/>
            <a:r>
              <a:rPr lang="it-IT" dirty="0"/>
              <a:t>• d , una variabile intera che  corrisponde al  numero di droni acquistati; </a:t>
            </a:r>
          </a:p>
          <a:p>
            <a:pPr algn="l"/>
            <a:r>
              <a:rPr lang="it-IT" dirty="0"/>
              <a:t>• </a:t>
            </a:r>
            <a:r>
              <a:rPr lang="it-IT" dirty="0" err="1"/>
              <a:t>ui</a:t>
            </a:r>
            <a:r>
              <a:rPr lang="it-IT" dirty="0"/>
              <a:t>  variabile reale che corrisponde al tempo di viaggio dalla stazione di controllo al task ti ;</a:t>
            </a:r>
          </a:p>
          <a:p>
            <a:pPr algn="l"/>
            <a:r>
              <a:rPr lang="it-IT" dirty="0"/>
              <a:t>• vi  variabile reale che rappresenta il tempo di ritorno dal task ti alla stazione di controllo;</a:t>
            </a:r>
          </a:p>
          <a:p>
            <a:pPr algn="l"/>
            <a:r>
              <a:rPr lang="it-IT" dirty="0"/>
              <a:t>Infine,</a:t>
            </a:r>
          </a:p>
          <a:p>
            <a:pPr algn="l"/>
            <a:r>
              <a:rPr lang="it-IT" dirty="0"/>
              <a:t>• </a:t>
            </a:r>
            <a:r>
              <a:rPr lang="it-IT" dirty="0" err="1"/>
              <a:t>Ri</a:t>
            </a:r>
            <a:r>
              <a:rPr lang="it-IT" dirty="0"/>
              <a:t> variabile reale che corrisponde al periodo di rivisita per ciascun task dell’insieme T;</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9</a:t>
            </a:fld>
            <a:endParaRPr lang="it-IT"/>
          </a:p>
        </p:txBody>
      </p:sp>
    </p:spTree>
    <p:extLst>
      <p:ext uri="{BB962C8B-B14F-4D97-AF65-F5344CB8AC3E}">
        <p14:creationId xmlns:p14="http://schemas.microsoft.com/office/powerpoint/2010/main" val="3688442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b="0" i="0" dirty="0">
                <a:solidFill>
                  <a:srgbClr val="374151"/>
                </a:solidFill>
                <a:effectLst/>
                <a:latin typeface="Söhne"/>
              </a:rPr>
              <a:t>L'obiettivo consiste nel ridurre la somma ponderata dei periodi di rivisita di tutti i task e minimizzare il costo di acquisto dei droni. Per il primo obiettivo, la variabile </a:t>
            </a:r>
            <a:r>
              <a:rPr lang="it-IT" b="0" i="0" dirty="0" err="1">
                <a:solidFill>
                  <a:srgbClr val="374151"/>
                </a:solidFill>
                <a:effectLst/>
                <a:latin typeface="Söhne"/>
              </a:rPr>
              <a:t>Ri</a:t>
            </a:r>
            <a:r>
              <a:rPr lang="it-IT" b="0" i="0" dirty="0">
                <a:solidFill>
                  <a:srgbClr val="374151"/>
                </a:solidFill>
                <a:effectLst/>
                <a:latin typeface="Söhne"/>
              </a:rPr>
              <a:t> rappresenta il periodo di rivisita per la posizione ti. In questa prospettiva, può essere formulato come la minimizzazione della somma dei prodotti di ciascun peso attribuito al task ti e il corrispondente periodo di rivisita.</a:t>
            </a:r>
          </a:p>
          <a:p>
            <a:pPr algn="l"/>
            <a:endParaRPr lang="it-IT" b="0" i="0" dirty="0">
              <a:solidFill>
                <a:srgbClr val="374151"/>
              </a:solidFill>
              <a:effectLst/>
              <a:latin typeface="Söhne"/>
            </a:endParaRPr>
          </a:p>
          <a:p>
            <a:pPr algn="l"/>
            <a:r>
              <a:rPr lang="it-IT" b="0" i="0" dirty="0">
                <a:solidFill>
                  <a:srgbClr val="374151"/>
                </a:solidFill>
                <a:effectLst/>
                <a:latin typeface="Söhne"/>
              </a:rPr>
              <a:t>Il secondo obiettivo, c</a:t>
            </a:r>
            <a:r>
              <a:rPr lang="it-IT" dirty="0"/>
              <a:t>onsiderando che la variabile d corrisponde al numero di droni acquistati, esprimere come la minimizzazione del prodotto tra il numero di droni e il prezzo di ciascun drone.</a:t>
            </a:r>
          </a:p>
          <a:p>
            <a:pPr algn="l"/>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10</a:t>
            </a:fld>
            <a:endParaRPr lang="it-IT"/>
          </a:p>
        </p:txBody>
      </p:sp>
    </p:spTree>
    <p:extLst>
      <p:ext uri="{BB962C8B-B14F-4D97-AF65-F5344CB8AC3E}">
        <p14:creationId xmlns:p14="http://schemas.microsoft.com/office/powerpoint/2010/main" val="3888990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Per garantire la coerenza della rappresentazione del problema si introducono i vincoli di grado, formulati in modo da assicurare che per ciascun nodo che rappresenta un task, sia presente esattamente un arco entrante e un arco uscente. È anche fondamentale garantire che non si formino cappi all’interno del grafo, ovvero archi che connettano un nodo a se stesso.</a:t>
            </a:r>
          </a:p>
          <a:p>
            <a:pPr algn="l"/>
            <a:endParaRPr lang="it-IT" dirty="0"/>
          </a:p>
          <a:p>
            <a:pPr algn="l"/>
            <a:r>
              <a:rPr lang="it-IT" dirty="0"/>
              <a:t>Al fine di stabilire una gestione efficiente del flusso degli UAV, è necessario imporre restrizioni sul numero di archi entranti e uscenti dalla stazione di controllo. In particolare, si impone un limite massimo di archi sia in entrata che in uscita dal deposito, pari al numero di droni acquistati d.</a:t>
            </a:r>
          </a:p>
          <a:p>
            <a:pPr algn="l"/>
            <a:endParaRPr lang="it-IT" dirty="0"/>
          </a:p>
          <a:p>
            <a:pPr algn="l"/>
            <a:r>
              <a:rPr lang="it-IT" dirty="0"/>
              <a:t>Il </a:t>
            </a:r>
            <a:r>
              <a:rPr lang="it-IT" b="0" i="0" dirty="0">
                <a:solidFill>
                  <a:srgbClr val="374151"/>
                </a:solidFill>
                <a:effectLst/>
                <a:latin typeface="Söhne"/>
              </a:rPr>
              <a:t>problema potrebbe presentare soluzioni con sub-tour, cioè assegnamenti in cui un gruppo di task forma un ciclo, ma rimane isolato dalla stazione di controllo. Per evitare questo fenomeno, vengono introdotti vincoli specifici mirati all'eliminazione dei sub-tour. Per garantire un assegnamento coerente degli archi, se un arco è assegnato, il valore della variabile </a:t>
            </a:r>
            <a:r>
              <a:rPr lang="it-IT" b="0" i="0" dirty="0" err="1">
                <a:solidFill>
                  <a:srgbClr val="374151"/>
                </a:solidFill>
                <a:effectLst/>
                <a:latin typeface="Söhne"/>
              </a:rPr>
              <a:t>uj</a:t>
            </a:r>
            <a:r>
              <a:rPr lang="it-IT" b="0" i="0" dirty="0">
                <a:solidFill>
                  <a:srgbClr val="374151"/>
                </a:solidFill>
                <a:effectLst/>
                <a:latin typeface="Söhne"/>
              </a:rPr>
              <a:t> deve essere almeno la somma del tempo di viaggio dalla stazione di controllo al task ti e il tempo di viaggio diretto da ti a </a:t>
            </a:r>
            <a:r>
              <a:rPr lang="it-IT" b="0" i="0" dirty="0" err="1">
                <a:solidFill>
                  <a:srgbClr val="374151"/>
                </a:solidFill>
                <a:effectLst/>
                <a:latin typeface="Söhne"/>
              </a:rPr>
              <a:t>tj</a:t>
            </a:r>
            <a:r>
              <a:rPr lang="it-IT" b="0" i="0" dirty="0">
                <a:solidFill>
                  <a:srgbClr val="374151"/>
                </a:solidFill>
                <a:effectLst/>
                <a:latin typeface="Söhne"/>
              </a:rPr>
              <a:t>. Dove M è un numero molto grande.</a:t>
            </a:r>
            <a:endParaRPr lang="it-IT" b="0" i="0" dirty="0">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b="0" i="0" dirty="0">
              <a:effectLst/>
              <a:latin typeface="Söhne"/>
            </a:endParaRPr>
          </a:p>
          <a:p>
            <a:pPr algn="l"/>
            <a:r>
              <a:rPr lang="it-IT" dirty="0"/>
              <a:t>Per definire i vincoli relativi al periodo di rivisita, si considerano il tempo di viaggio dalla stazione di controllo al task ti e il tempo di ritorno dal task alla stazione di controllo. La somma di queste due variabili fornisce il tempo di viaggio totale per completare il ciclo che include il task t.</a:t>
            </a:r>
          </a:p>
          <a:p>
            <a:pPr algn="l"/>
            <a:endParaRPr lang="it-IT" b="0" i="0" dirty="0">
              <a:effectLst/>
              <a:latin typeface="Söhne"/>
            </a:endParaRPr>
          </a:p>
          <a:p>
            <a:pPr algn="l"/>
            <a:r>
              <a:rPr lang="it-IT" b="0" i="0" dirty="0">
                <a:effectLst/>
                <a:latin typeface="Söhne"/>
              </a:rPr>
              <a:t>Sono considerati i limiti superiori e inferiori per le variabili decisionali. In particolare il numero di droni deve essere almeno pari ad 1, in modo tale che possa essere pianificata la missione di ISR</a:t>
            </a:r>
          </a:p>
        </p:txBody>
      </p:sp>
      <p:sp>
        <p:nvSpPr>
          <p:cNvPr id="4" name="Segnaposto numero diapositiva 3"/>
          <p:cNvSpPr>
            <a:spLocks noGrp="1"/>
          </p:cNvSpPr>
          <p:nvPr>
            <p:ph type="sldNum" sz="quarter" idx="5"/>
          </p:nvPr>
        </p:nvSpPr>
        <p:spPr/>
        <p:txBody>
          <a:bodyPr/>
          <a:lstStyle/>
          <a:p>
            <a:fld id="{74ED6063-9CFE-43C5-A719-656035624075}" type="slidenum">
              <a:rPr lang="it-IT" smtClean="0"/>
              <a:t>11</a:t>
            </a:fld>
            <a:endParaRPr lang="it-IT"/>
          </a:p>
        </p:txBody>
      </p:sp>
    </p:spTree>
    <p:extLst>
      <p:ext uri="{BB962C8B-B14F-4D97-AF65-F5344CB8AC3E}">
        <p14:creationId xmlns:p14="http://schemas.microsoft.com/office/powerpoint/2010/main" val="4013035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In questo progetto si richiede la simultanea riduzione dei costi di acquisto dei droni e della somma pesata dei periodi di rivisita. </a:t>
            </a:r>
          </a:p>
          <a:p>
            <a:pPr algn="l"/>
            <a:r>
              <a:rPr lang="it-IT" dirty="0"/>
              <a:t>La frontiera di Pareto `e definita in un piano i cui assi sono gli obiettivi del modello di ottimizzazione e rappresenta l’insieme delle soluzioni che non possono essere migliorate in uno degli obiettivi senza peggiorare almeno uno degli altri obiettivi.</a:t>
            </a:r>
          </a:p>
          <a:p>
            <a:pPr algn="l"/>
            <a:r>
              <a:rPr lang="it-IT" dirty="0"/>
              <a:t>Per ottenere la frontiera di Pareto in questo progetto, è stato utilizzato il solver </a:t>
            </a:r>
            <a:r>
              <a:rPr lang="it-IT" dirty="0" err="1"/>
              <a:t>gamultiobj</a:t>
            </a:r>
            <a:r>
              <a:rPr lang="it-IT" dirty="0"/>
              <a:t> di MATLAB, che attraverso l’esecuzione dell’algoritmo genetico cerca di trovare soluzioni ottimali bilanciate tra i due obiettivi del problema. </a:t>
            </a:r>
          </a:p>
          <a:p>
            <a:pPr algn="l"/>
            <a:endParaRPr lang="it-IT" dirty="0"/>
          </a:p>
          <a:p>
            <a:pPr algn="l"/>
            <a:r>
              <a:rPr lang="it-IT" dirty="0"/>
              <a:t>Dal risultato dell’ottimizzazione, è possibile notare che la frontiera di Pareto ottenuta, presenta una forma convessa. Questa caratteristica offre l’opportunità di semplificare ulteriormente la rappresentazione della formulazione multi-obiettivo mediante l’utilizzo della Funzione Obiettivo Aggregata (AOF), in cui si ottimizzazione una singola funzione obiettivo ottenuta come combinazione lineare dei singoli obiettivi. In questo progetto per l’obiettivo 1 è stato impostato un peso maggiore rispetto al peso per l’obiettivo 2.</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12</a:t>
            </a:fld>
            <a:endParaRPr lang="it-IT"/>
          </a:p>
        </p:txBody>
      </p:sp>
    </p:spTree>
    <p:extLst>
      <p:ext uri="{BB962C8B-B14F-4D97-AF65-F5344CB8AC3E}">
        <p14:creationId xmlns:p14="http://schemas.microsoft.com/office/powerpoint/2010/main" val="1921380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Si considera una configurazione operativa che comprende un totale di 8 task distinti, ognuno dei quali richiede l’intervento di droni per essere completato. Tuttavia, il numero massimo di droni disponibili per l’acquisto è vincolato a un massimo di 7 unità. Il costo associato all’acquisto di ciascun sistema UAV  è stabilito a 1000.</a:t>
            </a:r>
          </a:p>
          <a:p>
            <a:pPr algn="l"/>
            <a:endParaRPr lang="it-IT" dirty="0"/>
          </a:p>
          <a:p>
            <a:pPr algn="l"/>
            <a:r>
              <a:rPr lang="it-IT" dirty="0"/>
              <a:t>[Animazione 1]</a:t>
            </a:r>
          </a:p>
          <a:p>
            <a:pPr algn="l"/>
            <a:r>
              <a:rPr lang="it-IT" dirty="0"/>
              <a:t>Il contesto operativo è articolato in tre scenari differenti, ciascuno caratterizzato da una prospettiva ottimistica, media e pessimistica come in tabella, dove sono assegnati pesi specifici ai task in base alle loro priorità. All’interno di questo quadro, sono stati individuati i task 1, 4 e 7 come particolarmente sensibili a eventuali variazioni che possano emergere in tali scenari.</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[Animazione 2]</a:t>
            </a:r>
          </a:p>
          <a:p>
            <a:pPr algn="l"/>
            <a:r>
              <a:rPr lang="it-IT" b="0" i="0" dirty="0">
                <a:solidFill>
                  <a:srgbClr val="374151"/>
                </a:solidFill>
                <a:effectLst/>
                <a:latin typeface="Söhne"/>
              </a:rPr>
              <a:t>Le distanze tra i task, fondamentali per la comprensione della loro disposizione e relazione spaziale, sono dettagliatamente presentate in tabella. </a:t>
            </a:r>
            <a:r>
              <a:rPr lang="it-IT" dirty="0"/>
              <a:t> </a:t>
            </a:r>
          </a:p>
        </p:txBody>
      </p:sp>
      <p:sp>
        <p:nvSpPr>
          <p:cNvPr id="4" name="Segnaposto numero diapositiva 3"/>
          <p:cNvSpPr>
            <a:spLocks noGrp="1"/>
          </p:cNvSpPr>
          <p:nvPr>
            <p:ph type="sldNum" sz="quarter" idx="5"/>
          </p:nvPr>
        </p:nvSpPr>
        <p:spPr/>
        <p:txBody>
          <a:bodyPr/>
          <a:lstStyle/>
          <a:p>
            <a:fld id="{74ED6063-9CFE-43C5-A719-656035624075}" type="slidenum">
              <a:rPr lang="it-IT" smtClean="0"/>
              <a:t>13</a:t>
            </a:fld>
            <a:endParaRPr lang="it-IT"/>
          </a:p>
        </p:txBody>
      </p:sp>
    </p:spTree>
    <p:extLst>
      <p:ext uri="{BB962C8B-B14F-4D97-AF65-F5344CB8AC3E}">
        <p14:creationId xmlns:p14="http://schemas.microsoft.com/office/powerpoint/2010/main" val="1322257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Al fine di valutare gli scenari sui pesi dei periodi di rivisita, si definisce un modello di ottimizzazione robusta. Il quale ha l’obiettivo di determinare una soluzione in grado di far fronte alle variazioni tra gli scenari, garantendo il soddisfacimento delle condizioni di ammissibilità e limitando le variazioni nel valore della funzione obiettivo. </a:t>
            </a:r>
          </a:p>
          <a:p>
            <a:pPr algn="l"/>
            <a:endParaRPr lang="it-IT" dirty="0"/>
          </a:p>
          <a:p>
            <a:pPr algn="l"/>
            <a:r>
              <a:rPr lang="it-IT" dirty="0"/>
              <a:t>In particolare, si intende modellare il problema attraverso il criterio di robustezza assoluta, in cui una soluzione è soluzione ottima robusta in senso assoluto, se minimizza il costo massimo ottenuto in corrispondenza di tutti gli scenari. Questo approccio permette di preservare il sistema dalla peggiore delle realizzazioni possibili. A tal proposito, si riformula l’obiettivo sulla somma pesata dei periodi di rivisita in quanto in base agli scenari proposti è soggetto a incertezza.</a:t>
            </a:r>
          </a:p>
          <a:p>
            <a:pPr algn="l"/>
            <a:endParaRPr lang="it-IT" b="0" i="0" dirty="0">
              <a:effectLst/>
              <a:latin typeface="Söhne"/>
            </a:endParaRPr>
          </a:p>
          <a:p>
            <a:pPr algn="l"/>
            <a:r>
              <a:rPr lang="it-IT" dirty="0"/>
              <a:t>La formulazione dell’obiettivo risulta essere non lineare, quindi si introduce una nuova variabile decisionale e nuovi vincoli per linearizzarlo.</a:t>
            </a:r>
          </a:p>
          <a:p>
            <a:pPr algn="l"/>
            <a:endParaRPr lang="it-IT" b="0" i="0" dirty="0">
              <a:effectLst/>
              <a:latin typeface="Söhne"/>
            </a:endParaRPr>
          </a:p>
          <a:p>
            <a:pPr algn="l"/>
            <a:r>
              <a:rPr lang="it-IT" dirty="0"/>
              <a:t>Infine, `e possibile riscrivere la funzione obiettivo aggregata considerando l’ottimizzazione robusta in senso assoluto.</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14</a:t>
            </a:fld>
            <a:endParaRPr lang="it-IT"/>
          </a:p>
        </p:txBody>
      </p:sp>
    </p:spTree>
    <p:extLst>
      <p:ext uri="{BB962C8B-B14F-4D97-AF65-F5344CB8AC3E}">
        <p14:creationId xmlns:p14="http://schemas.microsoft.com/office/powerpoint/2010/main" val="707775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Ogni scenario proposto e il modello dell’istanza del problema di ottimizzazione che tiene conto dell’incertezza sono stati implementati in Matlab. I vincoli sono stati riportati in forma di minore uguale. Sono state definite A e </a:t>
            </a:r>
            <a:r>
              <a:rPr lang="it-IT" dirty="0" err="1"/>
              <a:t>Aeq</a:t>
            </a:r>
            <a:r>
              <a:rPr lang="it-IT" dirty="0"/>
              <a:t> matrici tecnologiche rispettivamente dei vincoli di disuguaglianza e uguaglianza, con i relativi vettori dei termini noti b e </a:t>
            </a:r>
            <a:r>
              <a:rPr lang="it-IT" dirty="0" err="1"/>
              <a:t>beq</a:t>
            </a:r>
            <a:r>
              <a:rPr lang="it-IT" dirty="0"/>
              <a:t>.</a:t>
            </a:r>
          </a:p>
          <a:p>
            <a:pPr algn="l"/>
            <a:r>
              <a:rPr lang="it-IT" dirty="0"/>
              <a:t>Al fine di ottenere una soluzione ottima del problema `e stato eseguita la funzione </a:t>
            </a:r>
            <a:r>
              <a:rPr lang="it-IT" dirty="0" err="1"/>
              <a:t>intlingprog</a:t>
            </a:r>
            <a:r>
              <a:rPr lang="it-IT" dirty="0"/>
              <a:t> dell’</a:t>
            </a:r>
            <a:r>
              <a:rPr lang="it-IT" dirty="0" err="1"/>
              <a:t>Optimization</a:t>
            </a:r>
            <a:r>
              <a:rPr lang="it-IT" dirty="0"/>
              <a:t> Toolbox di Matlab.</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15</a:t>
            </a:fld>
            <a:endParaRPr lang="it-IT"/>
          </a:p>
        </p:txBody>
      </p:sp>
    </p:spTree>
    <p:extLst>
      <p:ext uri="{BB962C8B-B14F-4D97-AF65-F5344CB8AC3E}">
        <p14:creationId xmlns:p14="http://schemas.microsoft.com/office/powerpoint/2010/main" val="469971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I risultati dell’ottimizzazione hanno rivelato una configurazione ottimale per lo scenario ottimistico, evidenziata dalla successione dei task e i percorsi dei droni illustrati nella Figura. La soluzione ottima considera l’acquisto di 4 droni con una spesa complessiva di 4000. In tabella sono riportati i valori del tempo di viaggio per raggiungere i task dal deposito, il tempo di viaggio per tornare dai task al deposito e i valori dei periodi di rivisita che hanno prodotto una somma pesata dei periodi di rivisita pari a 504.510 ore.</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16</a:t>
            </a:fld>
            <a:endParaRPr lang="it-IT"/>
          </a:p>
        </p:txBody>
      </p:sp>
    </p:spTree>
    <p:extLst>
      <p:ext uri="{BB962C8B-B14F-4D97-AF65-F5344CB8AC3E}">
        <p14:creationId xmlns:p14="http://schemas.microsoft.com/office/powerpoint/2010/main" val="682375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Una configurazione ottimale è emersa anche per lo scenario medio. La Figura mostra la sequenza dei task e i percorsi dei droni associati a questa configurazione. Qui, la sequenza dei task e i percorsi dei droni sono ottimizzati per affrontare un contesto </a:t>
            </a:r>
            <a:r>
              <a:rPr lang="it-IT" dirty="0" err="1"/>
              <a:t>pi`u</a:t>
            </a:r>
            <a:r>
              <a:rPr lang="it-IT" dirty="0"/>
              <a:t> bilanciato rispetto alle </a:t>
            </a:r>
            <a:r>
              <a:rPr lang="it-IT" dirty="0" err="1"/>
              <a:t>aspettative.I</a:t>
            </a:r>
            <a:r>
              <a:rPr lang="it-IT" dirty="0"/>
              <a:t> dettagli della soluzione ottimale sono riportati nella Tabella. La spesa complessiva è di 5000 per l’acquisto di 5 droni, e la somma pesata dei periodi di rivisita ammonta a 456.29 ore. </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17</a:t>
            </a:fld>
            <a:endParaRPr lang="it-IT"/>
          </a:p>
        </p:txBody>
      </p:sp>
    </p:spTree>
    <p:extLst>
      <p:ext uri="{BB962C8B-B14F-4D97-AF65-F5344CB8AC3E}">
        <p14:creationId xmlns:p14="http://schemas.microsoft.com/office/powerpoint/2010/main" val="2217870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Nello scenario pessimistico, il solver ha identificato una configurazione ottimale per affrontare sfide più complesse. La Figura  illustra i percorsi dei droni, mentre i dettagli delle variabili decisionali sono riportati nella Tabella. In questa situazione, è stata suggerita l’acquisizione di 5 droni con una spesa di 5000, e la somma pesata dei periodi di rivisita ammonta a 456.29 ore.</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18</a:t>
            </a:fld>
            <a:endParaRPr lang="it-IT"/>
          </a:p>
        </p:txBody>
      </p:sp>
    </p:spTree>
    <p:extLst>
      <p:ext uri="{BB962C8B-B14F-4D97-AF65-F5344CB8AC3E}">
        <p14:creationId xmlns:p14="http://schemas.microsoft.com/office/powerpoint/2010/main" val="41009213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In considerazione dell’incertezza derivante dai tre scenari (ottimistico, medio e pessimistico), è stato ottimizzato il modello di ottimizzazione robusta assoluta per affrontare una gamma più ampia di possibili condizioni. La soluzione ottimale, rappresentata nella Figura ha considerato l’acquisto di 6 droni, con una spesa complessiva di 6000. La somma pesata dei periodi di rivisita è stata calcolata a 531.83 ore. I dettagli della soluzione ottimale sono riportati nella Tabella 7, dove sono indicati i valori del tempo di viaggio per ciascun task, i tempi di consegna e i tempi di rivisita. </a:t>
            </a: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19</a:t>
            </a:fld>
            <a:endParaRPr lang="it-IT"/>
          </a:p>
        </p:txBody>
      </p:sp>
    </p:spTree>
    <p:extLst>
      <p:ext uri="{BB962C8B-B14F-4D97-AF65-F5344CB8AC3E}">
        <p14:creationId xmlns:p14="http://schemas.microsoft.com/office/powerpoint/2010/main" val="49553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b="0" i="0" dirty="0">
                <a:solidFill>
                  <a:srgbClr val="374151"/>
                </a:solidFill>
                <a:effectLst/>
                <a:latin typeface="Söhne"/>
              </a:rPr>
              <a:t>I risultati mostrano che R1 ha periodi di rivisita di 68 ore nello scenario ottimistico e 64 ore nei casi medio e pessimistico, indicando una gestione efficace con priorità crescenti. Nel modello robusto, R1 è confermato a 64 ore, evidenziando considerazioni anche per lo scenario pessimistico.</a:t>
            </a:r>
          </a:p>
          <a:p>
            <a:pPr algn="l"/>
            <a:endParaRPr lang="it-IT" b="0" i="0" dirty="0">
              <a:solidFill>
                <a:srgbClr val="374151"/>
              </a:solidFill>
              <a:effectLst/>
              <a:latin typeface="Söhne"/>
            </a:endParaRPr>
          </a:p>
          <a:p>
            <a:pPr algn="l"/>
            <a:r>
              <a:rPr lang="it-IT" b="0" i="0" dirty="0">
                <a:solidFill>
                  <a:srgbClr val="374151"/>
                </a:solidFill>
                <a:effectLst/>
                <a:latin typeface="Söhne"/>
              </a:rPr>
              <a:t>R4 mantiene i tempi a 184 ore in tutti gli scenari, suggerendo una stabilità e resistenza del sistema anche in situazioni complesse. Nel modello robusto, R4 rimane a 184 ore, indicando prudenza nell'ottimizzare ulteriormente il tempo di rivisita.</a:t>
            </a:r>
          </a:p>
          <a:p>
            <a:pPr algn="l"/>
            <a:endParaRPr lang="it-IT" b="0" i="0" dirty="0">
              <a:solidFill>
                <a:srgbClr val="374151"/>
              </a:solidFill>
              <a:effectLst/>
              <a:latin typeface="Söhne"/>
            </a:endParaRPr>
          </a:p>
          <a:p>
            <a:pPr algn="l"/>
            <a:r>
              <a:rPr lang="it-IT" b="0" i="0" dirty="0">
                <a:solidFill>
                  <a:srgbClr val="374151"/>
                </a:solidFill>
                <a:effectLst/>
                <a:latin typeface="Söhne"/>
              </a:rPr>
              <a:t>Il periodo di rivisita per il task 7 rimane costante a 106 ore in tutti gli scenari e nel modello robusto, indicando una gestione dedicata e stabile.</a:t>
            </a:r>
          </a:p>
          <a:p>
            <a:pPr algn="l"/>
            <a:endParaRPr lang="it-IT" b="0" i="0" dirty="0">
              <a:solidFill>
                <a:srgbClr val="374151"/>
              </a:solidFill>
              <a:effectLst/>
              <a:latin typeface="Söhne"/>
            </a:endParaRPr>
          </a:p>
          <a:p>
            <a:pPr algn="l"/>
            <a:r>
              <a:rPr lang="it-IT" b="0" i="0" dirty="0">
                <a:solidFill>
                  <a:srgbClr val="374151"/>
                </a:solidFill>
                <a:effectLst/>
                <a:latin typeface="Söhne"/>
              </a:rPr>
              <a:t>La spesa totale è di 4000 euro nello scenario ottimistico e 5000 euro nei casi medio e pessimistico, riflettendo la necessità di risorse aggiuntive per situazioni più complesse. Con il modello robusto e l'acquisto di un drone aggiuntivo, la spesa totale raggiunge 6000 euro, contribuendo a una soluzione più flessibile e resistente agli scenari specifici.</a:t>
            </a:r>
          </a:p>
        </p:txBody>
      </p:sp>
      <p:sp>
        <p:nvSpPr>
          <p:cNvPr id="4" name="Segnaposto numero diapositiva 3"/>
          <p:cNvSpPr>
            <a:spLocks noGrp="1"/>
          </p:cNvSpPr>
          <p:nvPr>
            <p:ph type="sldNum" sz="quarter" idx="5"/>
          </p:nvPr>
        </p:nvSpPr>
        <p:spPr/>
        <p:txBody>
          <a:bodyPr/>
          <a:lstStyle/>
          <a:p>
            <a:fld id="{74ED6063-9CFE-43C5-A719-656035624075}" type="slidenum">
              <a:rPr lang="it-IT" smtClean="0"/>
              <a:t>20</a:t>
            </a:fld>
            <a:endParaRPr lang="it-IT"/>
          </a:p>
        </p:txBody>
      </p:sp>
    </p:spTree>
    <p:extLst>
      <p:ext uri="{BB962C8B-B14F-4D97-AF65-F5344CB8AC3E}">
        <p14:creationId xmlns:p14="http://schemas.microsoft.com/office/powerpoint/2010/main" val="2147488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b="0" i="0" dirty="0">
                <a:solidFill>
                  <a:srgbClr val="000000"/>
                </a:solidFill>
                <a:effectLst/>
                <a:latin typeface="Söhne"/>
              </a:rPr>
              <a:t>In conclusione, in questo progetto è stato conseguito con successo l'obiettivo di ridurre i periodi di rivisita pesati e abbassare i costi di acquisizione dei droni per le missioni di ISR, attraverso una formulazione MILP. </a:t>
            </a:r>
          </a:p>
          <a:p>
            <a:pPr algn="l"/>
            <a:endParaRPr lang="it-IT" b="0" i="0" dirty="0">
              <a:solidFill>
                <a:srgbClr val="000000"/>
              </a:solidFill>
              <a:effectLst/>
              <a:latin typeface="Söhne"/>
            </a:endParaRPr>
          </a:p>
          <a:p>
            <a:pPr algn="l"/>
            <a:r>
              <a:rPr lang="it-IT" b="0" i="0" dirty="0">
                <a:solidFill>
                  <a:srgbClr val="000000"/>
                </a:solidFill>
                <a:effectLst/>
                <a:latin typeface="Söhne"/>
              </a:rPr>
              <a:t>I due obiettivi sono stati rappresentati con una combinazione lineare tramite una funzione obiettivo aggregata. </a:t>
            </a:r>
          </a:p>
          <a:p>
            <a:pPr algn="l"/>
            <a:endParaRPr lang="it-IT" b="0" i="0" dirty="0">
              <a:solidFill>
                <a:srgbClr val="000000"/>
              </a:solidFill>
              <a:effectLst/>
              <a:latin typeface="Söhne"/>
            </a:endParaRPr>
          </a:p>
          <a:p>
            <a:pPr algn="l"/>
            <a:r>
              <a:rPr lang="it-IT" b="0" i="0" dirty="0">
                <a:solidFill>
                  <a:srgbClr val="000000"/>
                </a:solidFill>
                <a:effectLst/>
                <a:latin typeface="Söhne"/>
              </a:rPr>
              <a:t>L'analisi dell'istanza del problema in scenari diversi ha fornito dimostrato una buona gestione dei droni e dei costi in risposta alle condizioni operative mutevoli al fine di garantire periodi di rivista più brevi per i task critici. </a:t>
            </a:r>
          </a:p>
          <a:p>
            <a:endParaRPr lang="it-IT" b="0" i="0" dirty="0">
              <a:solidFill>
                <a:srgbClr val="000000"/>
              </a:solidFill>
              <a:effectLst/>
              <a:latin typeface="Söhne"/>
            </a:endParaRPr>
          </a:p>
          <a:p>
            <a:r>
              <a:rPr lang="it-IT" dirty="0"/>
              <a:t>Sviluppi futuri del seguente progetto possono considerare l’incertezza relativa alla matrice dei tempi di viaggio tra i task, gestendo i diversi scenari con una programmazione lineare stocastica a due stadi con ricorso.</a:t>
            </a:r>
            <a:br>
              <a:rPr lang="it-IT" b="0" i="0" dirty="0">
                <a:solidFill>
                  <a:srgbClr val="000000"/>
                </a:solidFill>
                <a:effectLst/>
                <a:latin typeface="Söhne"/>
              </a:rPr>
            </a:br>
            <a:endParaRPr lang="it-IT" b="0" i="0" dirty="0">
              <a:effectLst/>
              <a:latin typeface="Söhne"/>
            </a:endParaRPr>
          </a:p>
        </p:txBody>
      </p:sp>
      <p:sp>
        <p:nvSpPr>
          <p:cNvPr id="4" name="Segnaposto numero diapositiva 3"/>
          <p:cNvSpPr>
            <a:spLocks noGrp="1"/>
          </p:cNvSpPr>
          <p:nvPr>
            <p:ph type="sldNum" sz="quarter" idx="5"/>
          </p:nvPr>
        </p:nvSpPr>
        <p:spPr/>
        <p:txBody>
          <a:bodyPr/>
          <a:lstStyle/>
          <a:p>
            <a:fld id="{74ED6063-9CFE-43C5-A719-656035624075}" type="slidenum">
              <a:rPr lang="it-IT" smtClean="0"/>
              <a:t>21</a:t>
            </a:fld>
            <a:endParaRPr lang="it-IT"/>
          </a:p>
        </p:txBody>
      </p:sp>
    </p:spTree>
    <p:extLst>
      <p:ext uri="{BB962C8B-B14F-4D97-AF65-F5344CB8AC3E}">
        <p14:creationId xmlns:p14="http://schemas.microsoft.com/office/powerpoint/2010/main" val="2955362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r>
              <a:rPr lang="it-IT" dirty="0"/>
              <a:t>Grazie per l’attenzione</a:t>
            </a:r>
          </a:p>
        </p:txBody>
      </p:sp>
      <p:sp>
        <p:nvSpPr>
          <p:cNvPr id="4" name="Segnaposto numero diapositiva 3"/>
          <p:cNvSpPr>
            <a:spLocks noGrp="1"/>
          </p:cNvSpPr>
          <p:nvPr>
            <p:ph type="sldNum" sz="quarter" idx="5"/>
          </p:nvPr>
        </p:nvSpPr>
        <p:spPr/>
        <p:txBody>
          <a:bodyPr/>
          <a:lstStyle/>
          <a:p>
            <a:fld id="{74ED6063-9CFE-43C5-A719-656035624075}" type="slidenum">
              <a:rPr lang="it-IT" smtClean="0"/>
              <a:t>22</a:t>
            </a:fld>
            <a:endParaRPr lang="it-IT"/>
          </a:p>
        </p:txBody>
      </p:sp>
    </p:spTree>
    <p:extLst>
      <p:ext uri="{BB962C8B-B14F-4D97-AF65-F5344CB8AC3E}">
        <p14:creationId xmlns:p14="http://schemas.microsoft.com/office/powerpoint/2010/main" val="354943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82CACD-1837-F019-4601-87C4E897F37A}"/>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2983FD2-57FC-6D4E-6F7F-A97D574FC4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F292D98-9F70-B2BD-2390-146C9A0E188D}"/>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5" name="Segnaposto piè di pagina 4">
            <a:extLst>
              <a:ext uri="{FF2B5EF4-FFF2-40B4-BE49-F238E27FC236}">
                <a16:creationId xmlns:a16="http://schemas.microsoft.com/office/drawing/2014/main" id="{38F0A1EC-0D3F-6446-1F16-66A766FAF4B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B19BFB5-19CA-3B87-D1A7-DA29B7491A8B}"/>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4169450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2D6B48F-1807-72B5-A3DB-3627C67F6B71}"/>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C4029CE-0BF0-C5F8-A433-456F1E5CD592}"/>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DDC3F1-A365-D3BB-F288-06678A08116A}"/>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5" name="Segnaposto piè di pagina 4">
            <a:extLst>
              <a:ext uri="{FF2B5EF4-FFF2-40B4-BE49-F238E27FC236}">
                <a16:creationId xmlns:a16="http://schemas.microsoft.com/office/drawing/2014/main" id="{97B359CC-4432-AD55-E939-4291A351454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BC6754D-593E-02CB-487B-5CABDB66E0D8}"/>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453598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5CC4EA-61A6-AC8D-FFF7-79F1F3BE43E1}"/>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EDEEC0F2-ED8A-DCA6-1BDC-B2FEC068C7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7C4D255-0D98-13E3-6A3A-1EF3A2C8806B}"/>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5" name="Segnaposto piè di pagina 4">
            <a:extLst>
              <a:ext uri="{FF2B5EF4-FFF2-40B4-BE49-F238E27FC236}">
                <a16:creationId xmlns:a16="http://schemas.microsoft.com/office/drawing/2014/main" id="{40EF6803-18B9-890D-4EC6-C8892FF67AA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003B9D9-AFE0-9CAE-3080-69A586869D80}"/>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118726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0B908F-7528-BC16-8C83-3AAB9B25527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20F4F01-3F20-75A1-5303-D3DB4DC2F35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7D6BB87-985E-17AF-A70A-BC8A9EDC886C}"/>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59850D0-1005-2EAA-7B06-F924BB3A6805}"/>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6" name="Segnaposto piè di pagina 5">
            <a:extLst>
              <a:ext uri="{FF2B5EF4-FFF2-40B4-BE49-F238E27FC236}">
                <a16:creationId xmlns:a16="http://schemas.microsoft.com/office/drawing/2014/main" id="{E0558063-6809-55C0-2C62-F93BBF2D82E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AD2D25A-6893-7DFA-6996-8ABFC62DF4BE}"/>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3701603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D3B05E-CD67-74EA-7A59-132A4159F1A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D5F078B-A687-9404-4AFA-6D9C40EDAE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18A8C27F-5C81-F698-2B8B-502E8935C14E}"/>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CB76D1F0-A9D8-D68F-CD9E-B8289E9E2E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278BE2B3-5F9F-6239-4C84-E21E38C709F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EAA43C4-EEDE-CD74-8E9E-041B8AD4E9F0}"/>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8" name="Segnaposto piè di pagina 7">
            <a:extLst>
              <a:ext uri="{FF2B5EF4-FFF2-40B4-BE49-F238E27FC236}">
                <a16:creationId xmlns:a16="http://schemas.microsoft.com/office/drawing/2014/main" id="{BE92F979-7450-735A-526C-EAAB795BBD9C}"/>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94292C21-FEE2-2770-905B-BD00364AFB25}"/>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1929273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DE8FC0-4A8F-D854-A4D1-B54F7154956A}"/>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2E15B715-0B46-3FCD-6271-7708C3E01451}"/>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4" name="Segnaposto piè di pagina 3">
            <a:extLst>
              <a:ext uri="{FF2B5EF4-FFF2-40B4-BE49-F238E27FC236}">
                <a16:creationId xmlns:a16="http://schemas.microsoft.com/office/drawing/2014/main" id="{D6DB0A58-D4A8-9007-CB35-4FD048364CD2}"/>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125A258-D26C-6297-865A-62DED1E6F5F9}"/>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2341839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9E4CB62-48BF-2FC6-341E-DBF10BCC1C23}"/>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3" name="Segnaposto piè di pagina 2">
            <a:extLst>
              <a:ext uri="{FF2B5EF4-FFF2-40B4-BE49-F238E27FC236}">
                <a16:creationId xmlns:a16="http://schemas.microsoft.com/office/drawing/2014/main" id="{EBC459B4-4C1F-1D61-3338-A130530C389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B29E885D-DC28-4ACB-4F44-7EF9DFCA46DE}"/>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3814179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E5F8C4-61C5-9CA6-A8B8-84619C04BEA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8491ABE-C9B4-4001-D012-277ED0D169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220A42C-D08F-487E-F633-50E7DA500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AF4E4FD-83FE-4DED-861C-1CBA23EBF99A}"/>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6" name="Segnaposto piè di pagina 5">
            <a:extLst>
              <a:ext uri="{FF2B5EF4-FFF2-40B4-BE49-F238E27FC236}">
                <a16:creationId xmlns:a16="http://schemas.microsoft.com/office/drawing/2014/main" id="{847093EF-1064-8DB4-08CD-1AF6FA430D1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82E85C1-6D07-0094-FAE7-55EA07984B56}"/>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2001732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AF4CA-0F5C-C27F-6DE9-30F72B6EA8D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4BAC939-9CEF-D1D2-0DA9-59C8156E89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9EA8DCA8-096A-BA36-D766-D9FBA688E1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3346E8F-4C85-2C33-5283-AC807781B5E8}"/>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6" name="Segnaposto piè di pagina 5">
            <a:extLst>
              <a:ext uri="{FF2B5EF4-FFF2-40B4-BE49-F238E27FC236}">
                <a16:creationId xmlns:a16="http://schemas.microsoft.com/office/drawing/2014/main" id="{AE6D5F21-F89B-3C45-23EE-A938CE85794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82D1CC4-CC63-9C88-7338-45F6358410E1}"/>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2065274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31CE7A-C0A0-63F3-17F1-31556B962FF1}"/>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C6896B6-7348-3149-FC72-F317507BB2E5}"/>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5AE3E5E-63E0-D4B8-592C-5F9BC78B29F7}"/>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5" name="Segnaposto piè di pagina 4">
            <a:extLst>
              <a:ext uri="{FF2B5EF4-FFF2-40B4-BE49-F238E27FC236}">
                <a16:creationId xmlns:a16="http://schemas.microsoft.com/office/drawing/2014/main" id="{80189524-06A5-4E2A-FE49-9C6F169B43B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E8B97C9-E059-E0F5-ECC2-A567427452CA}"/>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391536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47652390-709E-C202-0604-1C1809DAD93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0AD8532-3CCB-CC41-597D-2FFD1BB917BE}"/>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C1F8D7B-2D48-6F5D-AAB8-B50249A6D4F9}"/>
              </a:ext>
            </a:extLst>
          </p:cNvPr>
          <p:cNvSpPr>
            <a:spLocks noGrp="1"/>
          </p:cNvSpPr>
          <p:nvPr>
            <p:ph type="dt" sz="half" idx="10"/>
          </p:nvPr>
        </p:nvSpPr>
        <p:spPr/>
        <p:txBody>
          <a:bodyPr/>
          <a:lstStyle/>
          <a:p>
            <a:fld id="{CA83644C-1914-4732-8649-DFCCDD7F6785}" type="datetimeFigureOut">
              <a:rPr lang="it-IT" smtClean="0"/>
              <a:t>19/12/2023</a:t>
            </a:fld>
            <a:endParaRPr lang="it-IT"/>
          </a:p>
        </p:txBody>
      </p:sp>
      <p:sp>
        <p:nvSpPr>
          <p:cNvPr id="5" name="Segnaposto piè di pagina 4">
            <a:extLst>
              <a:ext uri="{FF2B5EF4-FFF2-40B4-BE49-F238E27FC236}">
                <a16:creationId xmlns:a16="http://schemas.microsoft.com/office/drawing/2014/main" id="{F92B88F4-BA81-2114-69DA-BEB94C16044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A15A41F-4503-2D27-EB01-2B5958214044}"/>
              </a:ext>
            </a:extLst>
          </p:cNvPr>
          <p:cNvSpPr>
            <a:spLocks noGrp="1"/>
          </p:cNvSpPr>
          <p:nvPr>
            <p:ph type="sldNum" sz="quarter" idx="12"/>
          </p:nvPr>
        </p:nvSpPr>
        <p:spPr/>
        <p:txBody>
          <a:bodyPr/>
          <a:lstStyle/>
          <a:p>
            <a:fld id="{9AD84155-7973-48A9-B719-C0EDAB98FFE9}" type="slidenum">
              <a:rPr lang="it-IT" smtClean="0"/>
              <a:t>‹N›</a:t>
            </a:fld>
            <a:endParaRPr lang="it-IT"/>
          </a:p>
        </p:txBody>
      </p:sp>
    </p:spTree>
    <p:extLst>
      <p:ext uri="{BB962C8B-B14F-4D97-AF65-F5344CB8AC3E}">
        <p14:creationId xmlns:p14="http://schemas.microsoft.com/office/powerpoint/2010/main" val="1505484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9C6CE7D2-E328-DC49-4961-DE0DA3303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749A36A8-E35D-31AF-DE32-C87E9D03A0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843F904-B694-48CB-5CB5-13DEC6FF98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83644C-1914-4732-8649-DFCCDD7F6785}" type="datetimeFigureOut">
              <a:rPr lang="it-IT" smtClean="0"/>
              <a:t>19/12/2023</a:t>
            </a:fld>
            <a:endParaRPr lang="it-IT"/>
          </a:p>
        </p:txBody>
      </p:sp>
      <p:sp>
        <p:nvSpPr>
          <p:cNvPr id="5" name="Segnaposto piè di pagina 4">
            <a:extLst>
              <a:ext uri="{FF2B5EF4-FFF2-40B4-BE49-F238E27FC236}">
                <a16:creationId xmlns:a16="http://schemas.microsoft.com/office/drawing/2014/main" id="{C6EFFD07-1205-5841-7581-E6E5EDA44C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A3EB608F-D634-1ECA-9A11-62D8F66E87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D84155-7973-48A9-B719-C0EDAB98FFE9}" type="slidenum">
              <a:rPr lang="it-IT" smtClean="0"/>
              <a:t>‹N›</a:t>
            </a:fld>
            <a:endParaRPr lang="it-IT"/>
          </a:p>
        </p:txBody>
      </p:sp>
    </p:spTree>
    <p:extLst>
      <p:ext uri="{BB962C8B-B14F-4D97-AF65-F5344CB8AC3E}">
        <p14:creationId xmlns:p14="http://schemas.microsoft.com/office/powerpoint/2010/main" val="2113937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hyperlink" Target="https://www.htnovo.net/2018/07/download-sfondi-mac-iphone.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www.htnovo.net/2018/07/download-sfondi-mac-iphone.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www.htnovo.net/2018/07/download-sfondi-mac-iphone.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hyperlink" Target="https://www.htnovo.net/2018/07/download-sfondi-mac-iphone.html"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hyperlink" Target="https://www.htnovo.net/2018/07/download-sfondi-mac-iphone.html" TargetMode="Externa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www.htnovo.net/2018/07/download-sfondi-mac-iphone.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s://www.htnovo.net/2018/07/download-sfondi-mac-iphone.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www.htnovo.net/2018/07/download-sfondi-mac-iphone.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hyperlink" Target="https://www.htnovo.net/2018/07/download-sfondi-mac-iphone.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htnovo.net/2018/07/download-sfondi-mac-iphone.html"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jp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hyperlink" Target="https://www.htnovo.net/2018/07/download-sfondi-mac-iphone.html" TargetMode="External"/><Relationship Id="rId9" Type="http://schemas.openxmlformats.org/officeDocument/2006/relationships/image" Target="../media/image18.png"/><Relationship Id="rId1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jpg"/><Relationship Id="rId4" Type="http://schemas.openxmlformats.org/officeDocument/2006/relationships/hyperlink" Target="https://www.htnovo.net/2018/07/download-sfondi-mac-iphone.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www.htnovo.net/2018/07/download-sfondi-mac-iphone.html"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jpg"/><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s://www.htnovo.net/2018/07/download-sfondi-mac-iphone.html" TargetMode="External"/><Relationship Id="rId9"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code.kx.com/q/interfaces/matlab-client-for-q/"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www.htnovo.net/2018/07/download-sfondi-mac-iphone.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jpg"/><Relationship Id="rId4" Type="http://schemas.openxmlformats.org/officeDocument/2006/relationships/hyperlink" Target="https://www.htnovo.net/2018/07/download-sfondi-mac-iphone.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39.jpg"/><Relationship Id="rId5" Type="http://schemas.openxmlformats.org/officeDocument/2006/relationships/image" Target="../media/image38.png"/><Relationship Id="rId4" Type="http://schemas.openxmlformats.org/officeDocument/2006/relationships/hyperlink" Target="https://www.htnovo.net/2018/07/download-sfondi-mac-iphone.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40.jpg"/><Relationship Id="rId5" Type="http://schemas.openxmlformats.org/officeDocument/2006/relationships/image" Target="../media/image38.png"/><Relationship Id="rId4" Type="http://schemas.openxmlformats.org/officeDocument/2006/relationships/hyperlink" Target="https://www.htnovo.net/2018/07/download-sfondi-mac-iphone.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1.jpg"/><Relationship Id="rId5" Type="http://schemas.openxmlformats.org/officeDocument/2006/relationships/image" Target="../media/image38.png"/><Relationship Id="rId4" Type="http://schemas.openxmlformats.org/officeDocument/2006/relationships/hyperlink" Target="https://www.htnovo.net/2018/07/download-sfondi-mac-iphone.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hyperlink" Target="https://www.htnovo.net/2018/07/download-sfondi-mac-iphone.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hyperlink" Target="https://www.htnovo.net/2018/07/download-sfondi-mac-iphone.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hyperlink" Target="https://www.htnovo.net/2018/07/download-sfondi-mac-iphon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B7C1FF2A-D594-23A0-97D9-6A49AD0B4EBD}"/>
              </a:ext>
            </a:extLst>
          </p:cNvPr>
          <p:cNvSpPr>
            <a:spLocks noGrp="1"/>
          </p:cNvSpPr>
          <p:nvPr>
            <p:ph type="title"/>
          </p:nvPr>
        </p:nvSpPr>
        <p:spPr>
          <a:xfrm>
            <a:off x="838199" y="2766219"/>
            <a:ext cx="10869891" cy="1325563"/>
          </a:xfrm>
        </p:spPr>
        <p:txBody>
          <a:bodyPr>
            <a:normAutofit fontScale="90000"/>
          </a:bodyPr>
          <a:lstStyle/>
          <a:p>
            <a:pPr algn="ctr"/>
            <a:r>
              <a:rPr lang="it-IT" b="1" dirty="0">
                <a:latin typeface="Helvetica" panose="020B0604020202020204" pitchFamily="34" charset="0"/>
                <a:cs typeface="Helvetica" panose="020B0604020202020204" pitchFamily="34" charset="0"/>
              </a:rPr>
              <a:t>Ottimizzazione Multi-Obiettivo per il Routing di UAV in Missioni PISR con Incertezza</a:t>
            </a:r>
          </a:p>
        </p:txBody>
      </p:sp>
      <p:sp>
        <p:nvSpPr>
          <p:cNvPr id="3" name="Segnaposto contenuto 2">
            <a:extLst>
              <a:ext uri="{FF2B5EF4-FFF2-40B4-BE49-F238E27FC236}">
                <a16:creationId xmlns:a16="http://schemas.microsoft.com/office/drawing/2014/main" id="{E33FA1A6-DF20-504B-4933-B5002147F0B3}"/>
              </a:ext>
            </a:extLst>
          </p:cNvPr>
          <p:cNvSpPr>
            <a:spLocks noGrp="1"/>
          </p:cNvSpPr>
          <p:nvPr>
            <p:ph sz="half" idx="1"/>
          </p:nvPr>
        </p:nvSpPr>
        <p:spPr>
          <a:xfrm>
            <a:off x="838199" y="4387273"/>
            <a:ext cx="4294910" cy="1800000"/>
          </a:xfrm>
        </p:spPr>
        <p:txBody>
          <a:bodyPr>
            <a:normAutofit/>
          </a:bodyPr>
          <a:lstStyle/>
          <a:p>
            <a:pPr marL="0" indent="0">
              <a:buNone/>
            </a:pPr>
            <a:r>
              <a:rPr lang="it-IT" sz="1800" dirty="0">
                <a:latin typeface="Helvetica" panose="020B0604020202020204" pitchFamily="34" charset="0"/>
                <a:cs typeface="Helvetica" panose="020B0604020202020204" pitchFamily="34" charset="0"/>
              </a:rPr>
              <a:t>OPTIMIZATION AND CONTROL</a:t>
            </a:r>
          </a:p>
          <a:p>
            <a:pPr marL="0" indent="0">
              <a:buNone/>
            </a:pPr>
            <a:r>
              <a:rPr lang="it-IT" sz="1800" dirty="0">
                <a:latin typeface="Helvetica" panose="020B0604020202020204" pitchFamily="34" charset="0"/>
                <a:cs typeface="Helvetica" panose="020B0604020202020204" pitchFamily="34" charset="0"/>
              </a:rPr>
              <a:t>Prof. Ing. Agostino Marcello Mangini</a:t>
            </a:r>
          </a:p>
        </p:txBody>
      </p:sp>
      <p:sp>
        <p:nvSpPr>
          <p:cNvPr id="4" name="Segnaposto contenuto 3">
            <a:extLst>
              <a:ext uri="{FF2B5EF4-FFF2-40B4-BE49-F238E27FC236}">
                <a16:creationId xmlns:a16="http://schemas.microsoft.com/office/drawing/2014/main" id="{BFC8878B-D0D1-4F2A-6AF4-BEFEB10DB9B5}"/>
              </a:ext>
            </a:extLst>
          </p:cNvPr>
          <p:cNvSpPr>
            <a:spLocks noGrp="1"/>
          </p:cNvSpPr>
          <p:nvPr>
            <p:ph sz="half" idx="2"/>
          </p:nvPr>
        </p:nvSpPr>
        <p:spPr>
          <a:xfrm>
            <a:off x="8611600" y="4387273"/>
            <a:ext cx="3096491" cy="737962"/>
          </a:xfrm>
        </p:spPr>
        <p:txBody>
          <a:bodyPr>
            <a:normAutofit/>
          </a:bodyPr>
          <a:lstStyle/>
          <a:p>
            <a:pPr marL="0" indent="0">
              <a:buNone/>
            </a:pPr>
            <a:r>
              <a:rPr lang="it-IT" sz="1800" dirty="0">
                <a:latin typeface="Helvetica" panose="020B0604020202020204" pitchFamily="34" charset="0"/>
                <a:cs typeface="Helvetica" panose="020B0604020202020204" pitchFamily="34" charset="0"/>
              </a:rPr>
              <a:t>Presentation by:</a:t>
            </a:r>
          </a:p>
          <a:p>
            <a:pPr marL="0" indent="0">
              <a:buNone/>
            </a:pPr>
            <a:r>
              <a:rPr lang="it-IT" sz="1800" dirty="0">
                <a:latin typeface="Helvetica" panose="020B0604020202020204" pitchFamily="34" charset="0"/>
                <a:cs typeface="Helvetica" panose="020B0604020202020204" pitchFamily="34" charset="0"/>
              </a:rPr>
              <a:t>Michele Abbaticchio 586320</a:t>
            </a:r>
          </a:p>
        </p:txBody>
      </p:sp>
      <p:sp>
        <p:nvSpPr>
          <p:cNvPr id="5" name="CasellaDiTesto 4">
            <a:extLst>
              <a:ext uri="{FF2B5EF4-FFF2-40B4-BE49-F238E27FC236}">
                <a16:creationId xmlns:a16="http://schemas.microsoft.com/office/drawing/2014/main" id="{BE2A3B35-7AEC-83BB-BC15-B77DB94C2CC2}"/>
              </a:ext>
            </a:extLst>
          </p:cNvPr>
          <p:cNvSpPr txBox="1"/>
          <p:nvPr/>
        </p:nvSpPr>
        <p:spPr>
          <a:xfrm>
            <a:off x="2188585" y="670727"/>
            <a:ext cx="7814830" cy="646331"/>
          </a:xfrm>
          <a:prstGeom prst="rect">
            <a:avLst/>
          </a:prstGeom>
          <a:noFill/>
        </p:spPr>
        <p:txBody>
          <a:bodyPr wrap="square" rtlCol="0" anchor="ctr">
            <a:spAutoFit/>
          </a:bodyPr>
          <a:lstStyle/>
          <a:p>
            <a:pPr algn="ctr"/>
            <a:r>
              <a:rPr lang="it-IT" dirty="0">
                <a:latin typeface="Helvetica" panose="020B0604020202020204" pitchFamily="34" charset="0"/>
                <a:cs typeface="Helvetica" panose="020B0604020202020204" pitchFamily="34" charset="0"/>
              </a:rPr>
              <a:t>DIPARTIMENTO DI INGEGNERIA ELETTRICA E DELL’INFORMAZIONE</a:t>
            </a:r>
          </a:p>
          <a:p>
            <a:pPr algn="ctr"/>
            <a:r>
              <a:rPr lang="it-IT" dirty="0">
                <a:latin typeface="Helvetica" panose="020B0604020202020204" pitchFamily="34" charset="0"/>
                <a:cs typeface="Helvetica" panose="020B0604020202020204" pitchFamily="34" charset="0"/>
              </a:rPr>
              <a:t>LAUREA MAGISTRALE IN INGEGNERIA DELL’AUTOMAZIONE</a:t>
            </a:r>
          </a:p>
        </p:txBody>
      </p:sp>
      <p:pic>
        <p:nvPicPr>
          <p:cNvPr id="12" name="Immagine 11" descr="Immagine che contiene cerchio, Elementi grafici, logo, simbolo&#10;&#10;Descrizione generata automaticamente">
            <a:extLst>
              <a:ext uri="{FF2B5EF4-FFF2-40B4-BE49-F238E27FC236}">
                <a16:creationId xmlns:a16="http://schemas.microsoft.com/office/drawing/2014/main" id="{D346E130-A699-19A2-5F05-E977B13763ED}"/>
              </a:ext>
            </a:extLst>
          </p:cNvPr>
          <p:cNvPicPr>
            <a:picLocks noChangeAspect="1"/>
          </p:cNvPicPr>
          <p:nvPr/>
        </p:nvPicPr>
        <p:blipFill rotWithShape="1">
          <a:blip r:embed="rId5">
            <a:extLst>
              <a:ext uri="{28A0092B-C50C-407E-A947-70E740481C1C}">
                <a14:useLocalDpi xmlns:a14="http://schemas.microsoft.com/office/drawing/2010/main" val="0"/>
              </a:ext>
            </a:extLst>
          </a:blip>
          <a:srcRect l="23432" t="6339" r="24036" b="6215"/>
          <a:stretch/>
        </p:blipFill>
        <p:spPr>
          <a:xfrm>
            <a:off x="5227781" y="1317058"/>
            <a:ext cx="1402260" cy="1449161"/>
          </a:xfrm>
          <a:prstGeom prst="rect">
            <a:avLst/>
          </a:prstGeom>
        </p:spPr>
      </p:pic>
      <p:sp>
        <p:nvSpPr>
          <p:cNvPr id="6" name="Segnaposto contenuto 3">
            <a:extLst>
              <a:ext uri="{FF2B5EF4-FFF2-40B4-BE49-F238E27FC236}">
                <a16:creationId xmlns:a16="http://schemas.microsoft.com/office/drawing/2014/main" id="{85596970-0224-2865-D181-22998C295569}"/>
              </a:ext>
            </a:extLst>
          </p:cNvPr>
          <p:cNvSpPr txBox="1">
            <a:spLocks/>
          </p:cNvSpPr>
          <p:nvPr/>
        </p:nvSpPr>
        <p:spPr>
          <a:xfrm>
            <a:off x="4547755" y="6298935"/>
            <a:ext cx="3096491" cy="3689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t-IT" sz="1800" dirty="0">
                <a:latin typeface="Helvetica" panose="020B0604020202020204" pitchFamily="34" charset="0"/>
                <a:cs typeface="Helvetica" panose="020B0604020202020204" pitchFamily="34" charset="0"/>
              </a:rPr>
              <a:t>A.A. 2022-2023</a:t>
            </a:r>
          </a:p>
        </p:txBody>
      </p:sp>
    </p:spTree>
    <p:extLst>
      <p:ext uri="{BB962C8B-B14F-4D97-AF65-F5344CB8AC3E}">
        <p14:creationId xmlns:p14="http://schemas.microsoft.com/office/powerpoint/2010/main" val="2123348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D61A0CC-8FF3-B1F8-0F9E-3757F5A54587}"/>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Sommario</a:t>
            </a:r>
          </a:p>
        </p:txBody>
      </p:sp>
      <p:sp>
        <p:nvSpPr>
          <p:cNvPr id="3" name="Segnaposto contenuto 2">
            <a:extLst>
              <a:ext uri="{FF2B5EF4-FFF2-40B4-BE49-F238E27FC236}">
                <a16:creationId xmlns:a16="http://schemas.microsoft.com/office/drawing/2014/main" id="{52160CD7-0396-5851-FCA6-86A5C6CA2EA8}"/>
              </a:ext>
            </a:extLst>
          </p:cNvPr>
          <p:cNvSpPr>
            <a:spLocks noGrp="1"/>
          </p:cNvSpPr>
          <p:nvPr>
            <p:ph idx="1"/>
          </p:nvPr>
        </p:nvSpPr>
        <p:spPr>
          <a:xfrm>
            <a:off x="838200" y="1825625"/>
            <a:ext cx="10515600" cy="4351338"/>
          </a:xfrm>
        </p:spPr>
        <p:txBody>
          <a:bodyPr>
            <a:normAutofit fontScale="92500" lnSpcReduction="20000"/>
          </a:bodyPr>
          <a:lstStyle/>
          <a:p>
            <a:r>
              <a:rPr lang="it-IT" dirty="0"/>
              <a:t>Introduzione</a:t>
            </a:r>
          </a:p>
          <a:p>
            <a:r>
              <a:rPr lang="it-IT" dirty="0"/>
              <a:t>Descrizione del problema</a:t>
            </a:r>
          </a:p>
          <a:p>
            <a:r>
              <a:rPr lang="it-IT" dirty="0"/>
              <a:t>Formulazione del problema</a:t>
            </a:r>
          </a:p>
          <a:p>
            <a:r>
              <a:rPr lang="it-IT" dirty="0"/>
              <a:t>Funzione obiettivo aggregata</a:t>
            </a:r>
          </a:p>
          <a:p>
            <a:r>
              <a:rPr lang="it-IT" dirty="0"/>
              <a:t>Istanza del problema di ottimizzazione</a:t>
            </a:r>
          </a:p>
          <a:p>
            <a:r>
              <a:rPr lang="it-IT" dirty="0"/>
              <a:t>Modello di ottimizzazione robusta assoluta</a:t>
            </a:r>
          </a:p>
          <a:p>
            <a:r>
              <a:rPr lang="it-IT" dirty="0"/>
              <a:t>Ottimizzazione</a:t>
            </a:r>
          </a:p>
          <a:p>
            <a:r>
              <a:rPr lang="it-IT" dirty="0"/>
              <a:t>Risultati</a:t>
            </a:r>
          </a:p>
          <a:p>
            <a:r>
              <a:rPr lang="it-IT" dirty="0"/>
              <a:t>Analisi dei risultati</a:t>
            </a:r>
          </a:p>
          <a:p>
            <a:r>
              <a:rPr lang="it-IT" dirty="0"/>
              <a:t>Conclusioni e sviluppi futuri</a:t>
            </a:r>
          </a:p>
        </p:txBody>
      </p:sp>
    </p:spTree>
    <p:extLst>
      <p:ext uri="{BB962C8B-B14F-4D97-AF65-F5344CB8AC3E}">
        <p14:creationId xmlns:p14="http://schemas.microsoft.com/office/powerpoint/2010/main" val="779356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Introduzione</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200" y="1825625"/>
            <a:ext cx="10515600" cy="4086801"/>
          </a:xfrm>
        </p:spPr>
        <p:txBody>
          <a:bodyPr>
            <a:normAutofit/>
          </a:bodyPr>
          <a:lstStyle/>
          <a:p>
            <a:r>
              <a:rPr lang="it-IT" sz="1800" dirty="0">
                <a:solidFill>
                  <a:srgbClr val="0F0F0F"/>
                </a:solidFill>
                <a:latin typeface="Helvetica" panose="020B0604020202020204" pitchFamily="34" charset="0"/>
                <a:cs typeface="Helvetica" panose="020B0604020202020204" pitchFamily="34" charset="0"/>
              </a:rPr>
              <a:t>Intelligence, </a:t>
            </a:r>
            <a:r>
              <a:rPr lang="it-IT" sz="1800" dirty="0" err="1">
                <a:solidFill>
                  <a:srgbClr val="0F0F0F"/>
                </a:solidFill>
                <a:latin typeface="Helvetica" panose="020B0604020202020204" pitchFamily="34" charset="0"/>
                <a:cs typeface="Helvetica" panose="020B0604020202020204" pitchFamily="34" charset="0"/>
              </a:rPr>
              <a:t>Surveillance</a:t>
            </a:r>
            <a:r>
              <a:rPr lang="it-IT" sz="1800" dirty="0">
                <a:solidFill>
                  <a:srgbClr val="0F0F0F"/>
                </a:solidFill>
                <a:latin typeface="Helvetica" panose="020B0604020202020204" pitchFamily="34" charset="0"/>
                <a:cs typeface="Helvetica" panose="020B0604020202020204" pitchFamily="34" charset="0"/>
              </a:rPr>
              <a:t> and </a:t>
            </a:r>
            <a:r>
              <a:rPr lang="it-IT" sz="1800" dirty="0" err="1">
                <a:solidFill>
                  <a:srgbClr val="0F0F0F"/>
                </a:solidFill>
                <a:latin typeface="Helvetica" panose="020B0604020202020204" pitchFamily="34" charset="0"/>
                <a:cs typeface="Helvetica" panose="020B0604020202020204" pitchFamily="34" charset="0"/>
              </a:rPr>
              <a:t>Reconnaissance</a:t>
            </a:r>
            <a:r>
              <a:rPr lang="it-IT" sz="1800" dirty="0">
                <a:solidFill>
                  <a:srgbClr val="0F0F0F"/>
                </a:solidFill>
                <a:latin typeface="Helvetica" panose="020B0604020202020204" pitchFamily="34" charset="0"/>
                <a:cs typeface="Helvetica" panose="020B0604020202020204" pitchFamily="34" charset="0"/>
              </a:rPr>
              <a:t> (ISR) sono attività fondamentali per operazioni militari</a:t>
            </a:r>
          </a:p>
          <a:p>
            <a:pPr lvl="1"/>
            <a:r>
              <a:rPr lang="it-IT" sz="1800" b="0" i="0" dirty="0">
                <a:solidFill>
                  <a:srgbClr val="0F0F0F"/>
                </a:solidFill>
                <a:effectLst/>
                <a:latin typeface="Helvetica" panose="020B0604020202020204" pitchFamily="34" charset="0"/>
                <a:cs typeface="Helvetica" panose="020B0604020202020204" pitchFamily="34" charset="0"/>
              </a:rPr>
              <a:t>Intelligence</a:t>
            </a:r>
            <a:r>
              <a:rPr lang="it-IT" sz="1800" dirty="0">
                <a:solidFill>
                  <a:srgbClr val="0F0F0F"/>
                </a:solidFill>
                <a:latin typeface="Helvetica" panose="020B0604020202020204" pitchFamily="34" charset="0"/>
                <a:cs typeface="Helvetica" panose="020B0604020202020204" pitchFamily="34" charset="0"/>
              </a:rPr>
              <a:t>: si intende il prodotto finale derivante dalla sorveglianza e dalla ricognizione, fuso con altre informazioni.</a:t>
            </a:r>
          </a:p>
          <a:p>
            <a:pPr lvl="1"/>
            <a:r>
              <a:rPr lang="it-IT" sz="1800" b="0" i="0" dirty="0" err="1">
                <a:solidFill>
                  <a:srgbClr val="0F0F0F"/>
                </a:solidFill>
                <a:effectLst/>
                <a:latin typeface="Helvetica" panose="020B0604020202020204" pitchFamily="34" charset="0"/>
                <a:cs typeface="Helvetica" panose="020B0604020202020204" pitchFamily="34" charset="0"/>
              </a:rPr>
              <a:t>Sourveillance</a:t>
            </a:r>
            <a:r>
              <a:rPr lang="it-IT" sz="1800" dirty="0">
                <a:solidFill>
                  <a:srgbClr val="0F0F0F"/>
                </a:solidFill>
                <a:latin typeface="Helvetica" panose="020B0604020202020204" pitchFamily="34" charset="0"/>
                <a:cs typeface="Helvetica" panose="020B0604020202020204" pitchFamily="34" charset="0"/>
              </a:rPr>
              <a:t>: è un'attività prolungata e deliberata per recuperare dati</a:t>
            </a:r>
          </a:p>
          <a:p>
            <a:pPr lvl="1"/>
            <a:r>
              <a:rPr lang="it-IT" sz="1800" b="0" i="0" dirty="0" err="1">
                <a:solidFill>
                  <a:srgbClr val="0F0F0F"/>
                </a:solidFill>
                <a:effectLst/>
                <a:latin typeface="Helvetica" panose="020B0604020202020204" pitchFamily="34" charset="0"/>
                <a:cs typeface="Helvetica" panose="020B0604020202020204" pitchFamily="34" charset="0"/>
              </a:rPr>
              <a:t>Reconnaissance</a:t>
            </a:r>
            <a:r>
              <a:rPr lang="it-IT" sz="1800" b="0" i="0" dirty="0">
                <a:solidFill>
                  <a:srgbClr val="0F0F0F"/>
                </a:solidFill>
                <a:effectLst/>
                <a:latin typeface="Helvetica" panose="020B0604020202020204" pitchFamily="34" charset="0"/>
                <a:cs typeface="Helvetica" panose="020B0604020202020204" pitchFamily="34" charset="0"/>
              </a:rPr>
              <a:t>: sono attività rapide e mirate per recuperare informazioni specifiche</a:t>
            </a:r>
          </a:p>
          <a:p>
            <a:r>
              <a:rPr lang="it-IT" sz="1800" dirty="0">
                <a:solidFill>
                  <a:srgbClr val="0F0F0F"/>
                </a:solidFill>
                <a:latin typeface="Helvetica" panose="020B0604020202020204" pitchFamily="34" charset="0"/>
                <a:cs typeface="Helvetica" panose="020B0604020202020204" pitchFamily="34" charset="0"/>
              </a:rPr>
              <a:t>Sistemi UAV rendono possibile questo tipo di attività nel 21° secolo</a:t>
            </a:r>
          </a:p>
          <a:p>
            <a:r>
              <a:rPr lang="it-IT" sz="1800" dirty="0">
                <a:solidFill>
                  <a:srgbClr val="0F0F0F"/>
                </a:solidFill>
                <a:latin typeface="Helvetica" panose="020B0604020202020204" pitchFamily="34" charset="0"/>
                <a:cs typeface="Helvetica" panose="020B0604020202020204" pitchFamily="34" charset="0"/>
              </a:rPr>
              <a:t>Consegna regolare dei dati misurati alla stazione di controllo</a:t>
            </a:r>
          </a:p>
          <a:p>
            <a:r>
              <a:rPr lang="it-IT" sz="1800" dirty="0">
                <a:solidFill>
                  <a:srgbClr val="0F0F0F"/>
                </a:solidFill>
                <a:latin typeface="Helvetica" panose="020B0604020202020204" pitchFamily="34" charset="0"/>
                <a:cs typeface="Helvetica" panose="020B0604020202020204" pitchFamily="34" charset="0"/>
              </a:rPr>
              <a:t>Identificare l’importanza dei siti operativi da minima a estremamente critica </a:t>
            </a:r>
          </a:p>
          <a:p>
            <a:r>
              <a:rPr lang="it-IT" sz="1800" dirty="0">
                <a:solidFill>
                  <a:srgbClr val="0F0F0F"/>
                </a:solidFill>
                <a:latin typeface="Helvetica" panose="020B0604020202020204" pitchFamily="34" charset="0"/>
                <a:cs typeface="Helvetica" panose="020B0604020202020204" pitchFamily="34" charset="0"/>
              </a:rPr>
              <a:t>Pianificare la frequenza delle visite in base all’importanza delle posizioni</a:t>
            </a:r>
          </a:p>
        </p:txBody>
      </p:sp>
    </p:spTree>
    <p:extLst>
      <p:ext uri="{BB962C8B-B14F-4D97-AF65-F5344CB8AC3E}">
        <p14:creationId xmlns:p14="http://schemas.microsoft.com/office/powerpoint/2010/main" val="3460088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pic>
        <p:nvPicPr>
          <p:cNvPr id="3" name="Immagine 2" descr="Immagine che contiene veicolo, pialla/aereo, aeroplano, aeromobile&#10;&#10;Descrizione generata automaticamente">
            <a:extLst>
              <a:ext uri="{FF2B5EF4-FFF2-40B4-BE49-F238E27FC236}">
                <a16:creationId xmlns:a16="http://schemas.microsoft.com/office/drawing/2014/main" id="{C4C130E2-ABAA-1874-180E-4B754DBE88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9601" y="172800"/>
            <a:ext cx="6512400" cy="6512400"/>
          </a:xfrm>
          <a:prstGeom prst="rect">
            <a:avLst/>
          </a:prstGeom>
        </p:spPr>
      </p:pic>
      <p:sp>
        <p:nvSpPr>
          <p:cNvPr id="4" name="Rettangolo 3">
            <a:extLst>
              <a:ext uri="{FF2B5EF4-FFF2-40B4-BE49-F238E27FC236}">
                <a16:creationId xmlns:a16="http://schemas.microsoft.com/office/drawing/2014/main" id="{9AE300E1-42F4-F166-D3B8-0ECB90F1C3AD}"/>
              </a:ext>
            </a:extLst>
          </p:cNvPr>
          <p:cNvSpPr/>
          <p:nvPr/>
        </p:nvSpPr>
        <p:spPr>
          <a:xfrm>
            <a:off x="0" y="172800"/>
            <a:ext cx="12192000" cy="6512400"/>
          </a:xfrm>
          <a:prstGeom prst="rect">
            <a:avLst/>
          </a:prstGeom>
          <a:gradFill flip="none" rotWithShape="1">
            <a:gsLst>
              <a:gs pos="62000">
                <a:srgbClr val="FFFFFF"/>
              </a:gs>
              <a:gs pos="72000">
                <a:schemeClr val="accent1">
                  <a:alpha val="0"/>
                  <a:lumMod val="0"/>
                  <a:lumOff val="10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Descrizione del problema</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199" y="1825625"/>
            <a:ext cx="5838173" cy="4049081"/>
          </a:xfrm>
        </p:spPr>
        <p:txBody>
          <a:bodyPr>
            <a:normAutofit/>
          </a:bodyPr>
          <a:lstStyle/>
          <a:p>
            <a:r>
              <a:rPr lang="it-IT" sz="1800" dirty="0">
                <a:solidFill>
                  <a:srgbClr val="0F0F0F"/>
                </a:solidFill>
                <a:latin typeface="Helvetica" panose="020B0604020202020204" pitchFamily="34" charset="0"/>
                <a:cs typeface="Helvetica" panose="020B0604020202020204" pitchFamily="34" charset="0"/>
              </a:rPr>
              <a:t>Pianificazione missioni ISR persistente con UAV</a:t>
            </a:r>
          </a:p>
          <a:p>
            <a:r>
              <a:rPr lang="it-IT" sz="1800" dirty="0">
                <a:solidFill>
                  <a:srgbClr val="0F0F0F"/>
                </a:solidFill>
                <a:latin typeface="Helvetica" panose="020B0604020202020204" pitchFamily="34" charset="0"/>
                <a:cs typeface="Helvetica" panose="020B0604020202020204" pitchFamily="34" charset="0"/>
              </a:rPr>
              <a:t>Trovare una soluzione ottimale prima dell'inizio della missione per determinare il numero di UAV da acquistare e assegnare una sequenza di compiti.</a:t>
            </a:r>
          </a:p>
          <a:p>
            <a:r>
              <a:rPr lang="it-IT" sz="1800" dirty="0">
                <a:solidFill>
                  <a:srgbClr val="0F0F0F"/>
                </a:solidFill>
                <a:latin typeface="Helvetica" panose="020B0604020202020204" pitchFamily="34" charset="0"/>
                <a:cs typeface="Helvetica" panose="020B0604020202020204" pitchFamily="34" charset="0"/>
              </a:rPr>
              <a:t>Ogni task è assegnato a uno specifico UAV per l'intera durata della missione.</a:t>
            </a:r>
          </a:p>
          <a:p>
            <a:r>
              <a:rPr lang="it-IT" sz="1800" dirty="0">
                <a:solidFill>
                  <a:srgbClr val="0F0F0F"/>
                </a:solidFill>
                <a:latin typeface="Helvetica" panose="020B0604020202020204" pitchFamily="34" charset="0"/>
                <a:cs typeface="Helvetica" panose="020B0604020202020204" pitchFamily="34" charset="0"/>
              </a:rPr>
              <a:t>Gli UAV ritornano alla stazione di controllo dopo il completamento del compito, consentendo il recupero dei dati e la ripetizione della missione</a:t>
            </a:r>
          </a:p>
          <a:p>
            <a:r>
              <a:rPr lang="it-IT" sz="1800" dirty="0">
                <a:solidFill>
                  <a:srgbClr val="0F0F0F"/>
                </a:solidFill>
                <a:latin typeface="Helvetica" panose="020B0604020202020204" pitchFamily="34" charset="0"/>
                <a:cs typeface="Helvetica" panose="020B0604020202020204" pitchFamily="34" charset="0"/>
              </a:rPr>
              <a:t>Difficoltà nel prevedere con certezza i pesi associati ai task più critici</a:t>
            </a:r>
          </a:p>
        </p:txBody>
      </p:sp>
    </p:spTree>
    <p:extLst>
      <p:ext uri="{BB962C8B-B14F-4D97-AF65-F5344CB8AC3E}">
        <p14:creationId xmlns:p14="http://schemas.microsoft.com/office/powerpoint/2010/main" val="232498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51652178-E172-2ECE-B00C-350D557803C6}"/>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39" name="Segnaposto testo 3">
            <a:extLst>
              <a:ext uri="{FF2B5EF4-FFF2-40B4-BE49-F238E27FC236}">
                <a16:creationId xmlns:a16="http://schemas.microsoft.com/office/drawing/2014/main" id="{FDC8E290-82C7-C661-BB1C-9D58DD2E4E10}"/>
              </a:ext>
            </a:extLst>
          </p:cNvPr>
          <p:cNvSpPr txBox="1">
            <a:spLocks/>
          </p:cNvSpPr>
          <p:nvPr/>
        </p:nvSpPr>
        <p:spPr>
          <a:xfrm>
            <a:off x="394324" y="1800000"/>
            <a:ext cx="3600000" cy="360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800" b="1" dirty="0">
                <a:latin typeface="Helvetica" panose="020B0604020202020204" pitchFamily="34" charset="0"/>
                <a:cs typeface="Helvetica" panose="020B0604020202020204" pitchFamily="34" charset="0"/>
              </a:rPr>
              <a:t>Tempo di consegna</a:t>
            </a:r>
          </a:p>
        </p:txBody>
      </p:sp>
      <p:sp>
        <p:nvSpPr>
          <p:cNvPr id="40" name="Segnaposto contenuto 4">
            <a:extLst>
              <a:ext uri="{FF2B5EF4-FFF2-40B4-BE49-F238E27FC236}">
                <a16:creationId xmlns:a16="http://schemas.microsoft.com/office/drawing/2014/main" id="{C30C5E86-3AA7-2EC8-B0DF-1CE95925D370}"/>
              </a:ext>
            </a:extLst>
          </p:cNvPr>
          <p:cNvSpPr txBox="1">
            <a:spLocks/>
          </p:cNvSpPr>
          <p:nvPr/>
        </p:nvSpPr>
        <p:spPr>
          <a:xfrm>
            <a:off x="394324" y="2520000"/>
            <a:ext cx="3600000" cy="196171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800">
                <a:latin typeface="Helvetica" panose="020B0604020202020204" pitchFamily="34" charset="0"/>
                <a:cs typeface="Helvetica" panose="020B0604020202020204" pitchFamily="34" charset="0"/>
              </a:rPr>
              <a:t>Il tempo impiegato per svolgere task intermedi</a:t>
            </a:r>
          </a:p>
          <a:p>
            <a:r>
              <a:rPr lang="it-IT" sz="1800">
                <a:latin typeface="Helvetica" panose="020B0604020202020204" pitchFamily="34" charset="0"/>
                <a:cs typeface="Helvetica" panose="020B0604020202020204" pitchFamily="34" charset="0"/>
              </a:rPr>
              <a:t>Il tempo per il completamento di un task</a:t>
            </a:r>
          </a:p>
          <a:p>
            <a:r>
              <a:rPr lang="it-IT" sz="1800">
                <a:latin typeface="Helvetica" panose="020B0604020202020204" pitchFamily="34" charset="0"/>
                <a:cs typeface="Helvetica" panose="020B0604020202020204" pitchFamily="34" charset="0"/>
              </a:rPr>
              <a:t>Il tempo per tornare dal task alla stazione di controllo</a:t>
            </a:r>
          </a:p>
          <a:p>
            <a:endParaRPr lang="it-IT" sz="1800" dirty="0">
              <a:latin typeface="Helvetica" panose="020B0604020202020204" pitchFamily="34" charset="0"/>
              <a:cs typeface="Helvetica" panose="020B0604020202020204" pitchFamily="34" charset="0"/>
            </a:endParaRPr>
          </a:p>
        </p:txBody>
      </p:sp>
      <p:sp>
        <p:nvSpPr>
          <p:cNvPr id="41" name="Segnaposto testo 5">
            <a:extLst>
              <a:ext uri="{FF2B5EF4-FFF2-40B4-BE49-F238E27FC236}">
                <a16:creationId xmlns:a16="http://schemas.microsoft.com/office/drawing/2014/main" id="{EDDFD74F-AC53-AB32-FAD6-A01936E05FA3}"/>
              </a:ext>
            </a:extLst>
          </p:cNvPr>
          <p:cNvSpPr txBox="1">
            <a:spLocks/>
          </p:cNvSpPr>
          <p:nvPr/>
        </p:nvSpPr>
        <p:spPr>
          <a:xfrm>
            <a:off x="4354324" y="1800000"/>
            <a:ext cx="3600000" cy="360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800" b="1" dirty="0">
                <a:latin typeface="Helvetica" panose="020B0604020202020204" pitchFamily="34" charset="0"/>
                <a:cs typeface="Helvetica" panose="020B0604020202020204" pitchFamily="34" charset="0"/>
              </a:rPr>
              <a:t>Periodo di rivisita</a:t>
            </a:r>
          </a:p>
        </p:txBody>
      </p:sp>
      <p:sp>
        <p:nvSpPr>
          <p:cNvPr id="42" name="Segnaposto contenuto 6">
            <a:extLst>
              <a:ext uri="{FF2B5EF4-FFF2-40B4-BE49-F238E27FC236}">
                <a16:creationId xmlns:a16="http://schemas.microsoft.com/office/drawing/2014/main" id="{D25522D0-78D3-26A3-3F96-311C284938C3}"/>
              </a:ext>
            </a:extLst>
          </p:cNvPr>
          <p:cNvSpPr txBox="1">
            <a:spLocks/>
          </p:cNvSpPr>
          <p:nvPr/>
        </p:nvSpPr>
        <p:spPr>
          <a:xfrm>
            <a:off x="4354324" y="2520000"/>
            <a:ext cx="3600000" cy="196171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800">
                <a:latin typeface="Helvetica" panose="020B0604020202020204" pitchFamily="34" charset="0"/>
                <a:cs typeface="Helvetica" panose="020B0604020202020204" pitchFamily="34" charset="0"/>
              </a:rPr>
              <a:t>Intervallo di tempo tra le visite successive di un UAV a un task specifico</a:t>
            </a:r>
          </a:p>
          <a:p>
            <a:r>
              <a:rPr lang="it-IT" sz="1800">
                <a:solidFill>
                  <a:srgbClr val="374151"/>
                </a:solidFill>
                <a:latin typeface="Helvetica" panose="020B0604020202020204" pitchFamily="34" charset="0"/>
                <a:cs typeface="Helvetica" panose="020B0604020202020204" pitchFamily="34" charset="0"/>
              </a:rPr>
              <a:t>Rimane costante per ogni visita successiva</a:t>
            </a:r>
          </a:p>
          <a:p>
            <a:r>
              <a:rPr lang="it-IT" sz="1800">
                <a:solidFill>
                  <a:srgbClr val="374151"/>
                </a:solidFill>
                <a:latin typeface="Helvetica" panose="020B0604020202020204" pitchFamily="34" charset="0"/>
                <a:cs typeface="Helvetica" panose="020B0604020202020204" pitchFamily="34" charset="0"/>
              </a:rPr>
              <a:t>Dipende dalla priorità dei task</a:t>
            </a:r>
            <a:endParaRPr lang="it-IT" sz="1800" dirty="0">
              <a:solidFill>
                <a:srgbClr val="374151"/>
              </a:solidFill>
              <a:latin typeface="Helvetica" panose="020B0604020202020204" pitchFamily="34" charset="0"/>
              <a:cs typeface="Helvetica" panose="020B0604020202020204" pitchFamily="34" charset="0"/>
            </a:endParaRPr>
          </a:p>
        </p:txBody>
      </p:sp>
      <p:pic>
        <p:nvPicPr>
          <p:cNvPr id="43" name="Elemento grafico 42" descr="Miglioramento costante contorno">
            <a:extLst>
              <a:ext uri="{FF2B5EF4-FFF2-40B4-BE49-F238E27FC236}">
                <a16:creationId xmlns:a16="http://schemas.microsoft.com/office/drawing/2014/main" id="{37D962B2-A3A2-716E-E7D1-984338EA937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74324" y="4320000"/>
            <a:ext cx="2160000" cy="2160000"/>
          </a:xfrm>
          <a:prstGeom prst="rect">
            <a:avLst/>
          </a:prstGeom>
        </p:spPr>
      </p:pic>
      <p:pic>
        <p:nvPicPr>
          <p:cNvPr id="44" name="Elemento grafico 43" descr="Cronometro 66% con riempimento a tinta unita">
            <a:extLst>
              <a:ext uri="{FF2B5EF4-FFF2-40B4-BE49-F238E27FC236}">
                <a16:creationId xmlns:a16="http://schemas.microsoft.com/office/drawing/2014/main" id="{DADAF47D-6417-EE25-9737-CDBD9B29CD6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94324" y="4320000"/>
            <a:ext cx="1800000" cy="1800000"/>
          </a:xfrm>
          <a:prstGeom prst="rect">
            <a:avLst/>
          </a:prstGeom>
        </p:spPr>
      </p:pic>
      <p:sp>
        <p:nvSpPr>
          <p:cNvPr id="45" name="CasellaDiTesto 44">
            <a:extLst>
              <a:ext uri="{FF2B5EF4-FFF2-40B4-BE49-F238E27FC236}">
                <a16:creationId xmlns:a16="http://schemas.microsoft.com/office/drawing/2014/main" id="{A2491234-7580-A033-09C0-92924D5BFE67}"/>
              </a:ext>
            </a:extLst>
          </p:cNvPr>
          <p:cNvSpPr txBox="1"/>
          <p:nvPr/>
        </p:nvSpPr>
        <p:spPr>
          <a:xfrm>
            <a:off x="8314324" y="1800000"/>
            <a:ext cx="3600000" cy="369332"/>
          </a:xfrm>
          <a:prstGeom prst="rect">
            <a:avLst/>
          </a:prstGeom>
          <a:noFill/>
        </p:spPr>
        <p:txBody>
          <a:bodyPr wrap="square">
            <a:spAutoFit/>
          </a:bodyPr>
          <a:lstStyle/>
          <a:p>
            <a:pPr algn="ctr"/>
            <a:r>
              <a:rPr lang="it-IT" sz="1800" b="1" dirty="0">
                <a:latin typeface="Helvetica" panose="020B0604020202020204" pitchFamily="34" charset="0"/>
                <a:cs typeface="Helvetica" panose="020B0604020202020204" pitchFamily="34" charset="0"/>
              </a:rPr>
              <a:t>Costo di acquisto dei droni</a:t>
            </a:r>
          </a:p>
        </p:txBody>
      </p:sp>
      <p:pic>
        <p:nvPicPr>
          <p:cNvPr id="46" name="Elemento grafico 45" descr="Monete contorno">
            <a:extLst>
              <a:ext uri="{FF2B5EF4-FFF2-40B4-BE49-F238E27FC236}">
                <a16:creationId xmlns:a16="http://schemas.microsoft.com/office/drawing/2014/main" id="{8A66825A-FF7E-EE2E-135A-E6C8752CDC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14324" y="4320000"/>
            <a:ext cx="1800000" cy="1800000"/>
          </a:xfrm>
          <a:prstGeom prst="rect">
            <a:avLst/>
          </a:prstGeom>
        </p:spPr>
      </p:pic>
      <p:sp>
        <p:nvSpPr>
          <p:cNvPr id="47" name="Segnaposto contenuto 6">
            <a:extLst>
              <a:ext uri="{FF2B5EF4-FFF2-40B4-BE49-F238E27FC236}">
                <a16:creationId xmlns:a16="http://schemas.microsoft.com/office/drawing/2014/main" id="{F11F1430-5DC0-E5D2-2010-DB93D91B4E2A}"/>
              </a:ext>
            </a:extLst>
          </p:cNvPr>
          <p:cNvSpPr txBox="1">
            <a:spLocks/>
          </p:cNvSpPr>
          <p:nvPr/>
        </p:nvSpPr>
        <p:spPr>
          <a:xfrm>
            <a:off x="8314324" y="2520000"/>
            <a:ext cx="3600000" cy="19617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800" dirty="0">
                <a:latin typeface="Helvetica" panose="020B0604020202020204" pitchFamily="34" charset="0"/>
                <a:cs typeface="Helvetica" panose="020B0604020202020204" pitchFamily="34" charset="0"/>
              </a:rPr>
              <a:t>Quantità di droni necessari per ottenere una soluzione ottima</a:t>
            </a:r>
          </a:p>
          <a:p>
            <a:r>
              <a:rPr lang="it-IT" sz="1800" dirty="0">
                <a:solidFill>
                  <a:srgbClr val="374151"/>
                </a:solidFill>
                <a:latin typeface="Helvetica" panose="020B0604020202020204" pitchFamily="34" charset="0"/>
                <a:cs typeface="Helvetica" panose="020B0604020202020204" pitchFamily="34" charset="0"/>
              </a:rPr>
              <a:t>Variazione del costo in base al numero di droni</a:t>
            </a:r>
          </a:p>
          <a:p>
            <a:r>
              <a:rPr lang="it-IT" sz="1800" dirty="0">
                <a:solidFill>
                  <a:srgbClr val="374151"/>
                </a:solidFill>
                <a:latin typeface="Helvetica" panose="020B0604020202020204" pitchFamily="34" charset="0"/>
                <a:cs typeface="Helvetica" panose="020B0604020202020204" pitchFamily="34" charset="0"/>
              </a:rPr>
              <a:t>Numero massimo di droni acquistabili limitato</a:t>
            </a:r>
          </a:p>
        </p:txBody>
      </p:sp>
      <p:sp>
        <p:nvSpPr>
          <p:cNvPr id="48" name="Titolo 1">
            <a:extLst>
              <a:ext uri="{FF2B5EF4-FFF2-40B4-BE49-F238E27FC236}">
                <a16:creationId xmlns:a16="http://schemas.microsoft.com/office/drawing/2014/main" id="{17204C8F-0AEC-7B20-A3BF-286D85F93675}"/>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dirty="0">
                <a:latin typeface="Helvetica" panose="020B0604020202020204" pitchFamily="34" charset="0"/>
                <a:cs typeface="Helvetica" panose="020B0604020202020204" pitchFamily="34" charset="0"/>
              </a:rPr>
              <a:t>Metriche</a:t>
            </a:r>
          </a:p>
        </p:txBody>
      </p:sp>
    </p:spTree>
    <p:extLst>
      <p:ext uri="{BB962C8B-B14F-4D97-AF65-F5344CB8AC3E}">
        <p14:creationId xmlns:p14="http://schemas.microsoft.com/office/powerpoint/2010/main" val="3299885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Obiettivo</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200" y="1825625"/>
            <a:ext cx="10936266" cy="4049081"/>
          </a:xfrm>
        </p:spPr>
        <p:txBody>
          <a:bodyPr>
            <a:normAutofit/>
          </a:bodyPr>
          <a:lstStyle/>
          <a:p>
            <a:r>
              <a:rPr lang="it-IT" sz="1800" dirty="0">
                <a:solidFill>
                  <a:srgbClr val="0F0F0F"/>
                </a:solidFill>
                <a:latin typeface="Helvetica" panose="020B0604020202020204" pitchFamily="34" charset="0"/>
                <a:cs typeface="Helvetica" panose="020B0604020202020204" pitchFamily="34" charset="0"/>
              </a:rPr>
              <a:t>Formulazione MILP del Problema di Ottimizzazione del Routing di UAV in Missioni di PISR</a:t>
            </a:r>
          </a:p>
          <a:p>
            <a:r>
              <a:rPr lang="it-IT" sz="1800" dirty="0">
                <a:solidFill>
                  <a:srgbClr val="0F0F0F"/>
                </a:solidFill>
                <a:latin typeface="Helvetica" panose="020B0604020202020204" pitchFamily="34" charset="0"/>
                <a:cs typeface="Helvetica" panose="020B0604020202020204" pitchFamily="34" charset="0"/>
              </a:rPr>
              <a:t>Obiettivi Principali:</a:t>
            </a:r>
          </a:p>
          <a:p>
            <a:pPr lvl="1"/>
            <a:r>
              <a:rPr lang="it-IT" sz="1400" dirty="0">
                <a:solidFill>
                  <a:srgbClr val="0F0F0F"/>
                </a:solidFill>
                <a:latin typeface="Helvetica" panose="020B0604020202020204" pitchFamily="34" charset="0"/>
                <a:cs typeface="Helvetica" panose="020B0604020202020204" pitchFamily="34" charset="0"/>
              </a:rPr>
              <a:t>Minimizzazione della Somma Pesata dei Periodi di Rivisita.</a:t>
            </a:r>
          </a:p>
          <a:p>
            <a:pPr lvl="1"/>
            <a:r>
              <a:rPr lang="it-IT" sz="1400" dirty="0">
                <a:solidFill>
                  <a:srgbClr val="0F0F0F"/>
                </a:solidFill>
                <a:latin typeface="Helvetica" panose="020B0604020202020204" pitchFamily="34" charset="0"/>
                <a:cs typeface="Helvetica" panose="020B0604020202020204" pitchFamily="34" charset="0"/>
              </a:rPr>
              <a:t>Minimizzazione del Costo di Acquisto dei Droni.</a:t>
            </a:r>
          </a:p>
          <a:p>
            <a:r>
              <a:rPr lang="it-IT" sz="1800" dirty="0">
                <a:solidFill>
                  <a:srgbClr val="0F0F0F"/>
                </a:solidFill>
                <a:latin typeface="Helvetica" panose="020B0604020202020204" pitchFamily="34" charset="0"/>
                <a:cs typeface="Helvetica" panose="020B0604020202020204" pitchFamily="34" charset="0"/>
              </a:rPr>
              <a:t>Parametri Operativi:</a:t>
            </a:r>
          </a:p>
          <a:p>
            <a:pPr lvl="1"/>
            <a:r>
              <a:rPr lang="it-IT" sz="1400" dirty="0">
                <a:solidFill>
                  <a:srgbClr val="0F0F0F"/>
                </a:solidFill>
                <a:latin typeface="Helvetica" panose="020B0604020202020204" pitchFamily="34" charset="0"/>
                <a:cs typeface="Helvetica" panose="020B0604020202020204" pitchFamily="34" charset="0"/>
              </a:rPr>
              <a:t>Gestione di 8 posizioni</a:t>
            </a:r>
          </a:p>
          <a:p>
            <a:pPr lvl="1"/>
            <a:r>
              <a:rPr lang="it-IT" sz="1400" dirty="0">
                <a:solidFill>
                  <a:srgbClr val="0F0F0F"/>
                </a:solidFill>
                <a:latin typeface="Helvetica" panose="020B0604020202020204" pitchFamily="34" charset="0"/>
                <a:cs typeface="Helvetica" panose="020B0604020202020204" pitchFamily="34" charset="0"/>
              </a:rPr>
              <a:t>Limite di acquisto di massimo 7 UAV allo stesso prezzo</a:t>
            </a:r>
          </a:p>
          <a:p>
            <a:pPr lvl="1"/>
            <a:r>
              <a:rPr lang="it-IT" sz="1400" dirty="0">
                <a:solidFill>
                  <a:srgbClr val="0F0F0F"/>
                </a:solidFill>
                <a:latin typeface="Helvetica" panose="020B0604020202020204" pitchFamily="34" charset="0"/>
                <a:cs typeface="Helvetica" panose="020B0604020202020204" pitchFamily="34" charset="0"/>
              </a:rPr>
              <a:t>Distanze tra le Posizion estratte da una distribuzione uniforme discreta sull'intervallo [1,100].</a:t>
            </a:r>
          </a:p>
          <a:p>
            <a:r>
              <a:rPr lang="it-IT" sz="1800" dirty="0">
                <a:solidFill>
                  <a:srgbClr val="0F0F0F"/>
                </a:solidFill>
                <a:latin typeface="Helvetica" panose="020B0604020202020204" pitchFamily="34" charset="0"/>
                <a:cs typeface="Helvetica" panose="020B0604020202020204" pitchFamily="34" charset="0"/>
              </a:rPr>
              <a:t>Analisi degli Scenari:</a:t>
            </a:r>
          </a:p>
          <a:p>
            <a:pPr lvl="1"/>
            <a:r>
              <a:rPr lang="it-IT" sz="1400" dirty="0">
                <a:solidFill>
                  <a:srgbClr val="0F0F0F"/>
                </a:solidFill>
                <a:latin typeface="Helvetica" panose="020B0604020202020204" pitchFamily="34" charset="0"/>
                <a:cs typeface="Helvetica" panose="020B0604020202020204" pitchFamily="34" charset="0"/>
              </a:rPr>
              <a:t>Valutazione in tre scenari distinti: ottimistico, medio e pessimistico.</a:t>
            </a:r>
          </a:p>
          <a:p>
            <a:pPr lvl="1"/>
            <a:r>
              <a:rPr lang="it-IT" sz="1400" dirty="0">
                <a:solidFill>
                  <a:srgbClr val="0F0F0F"/>
                </a:solidFill>
                <a:latin typeface="Helvetica" panose="020B0604020202020204" pitchFamily="34" charset="0"/>
                <a:cs typeface="Helvetica" panose="020B0604020202020204" pitchFamily="34" charset="0"/>
              </a:rPr>
              <a:t>Scenari legati alla priorità di rivisita dei task più critici.</a:t>
            </a:r>
          </a:p>
        </p:txBody>
      </p:sp>
    </p:spTree>
    <p:extLst>
      <p:ext uri="{BB962C8B-B14F-4D97-AF65-F5344CB8AC3E}">
        <p14:creationId xmlns:p14="http://schemas.microsoft.com/office/powerpoint/2010/main" val="3296188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Formulazione del problema</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200" y="1825625"/>
            <a:ext cx="10936266" cy="4049081"/>
          </a:xfrm>
        </p:spPr>
        <p:txBody>
          <a:bodyPr>
            <a:normAutofit/>
          </a:bodyPr>
          <a:lstStyle/>
          <a:p>
            <a:r>
              <a:rPr lang="it-IT" sz="1800" dirty="0">
                <a:solidFill>
                  <a:srgbClr val="0F0F0F"/>
                </a:solidFill>
                <a:latin typeface="Helvetica" panose="020B0604020202020204" pitchFamily="34" charset="0"/>
                <a:cs typeface="Helvetica" panose="020B0604020202020204" pitchFamily="34" charset="0"/>
              </a:rPr>
              <a:t>Formulazione MILP</a:t>
            </a:r>
          </a:p>
          <a:p>
            <a:r>
              <a:rPr lang="it-IT" sz="1800" dirty="0">
                <a:solidFill>
                  <a:srgbClr val="0F0F0F"/>
                </a:solidFill>
                <a:latin typeface="Helvetica" panose="020B0604020202020204" pitchFamily="34" charset="0"/>
                <a:cs typeface="Helvetica" panose="020B0604020202020204" pitchFamily="34" charset="0"/>
              </a:rPr>
              <a:t>Variante del problema del commesso viaggiatore (TSP), arricchito con vincoli specifici delle missioni PISR</a:t>
            </a:r>
            <a:endParaRPr lang="it-IT" sz="1400" dirty="0">
              <a:solidFill>
                <a:srgbClr val="0F0F0F"/>
              </a:solidFill>
              <a:latin typeface="Helvetica" panose="020B0604020202020204" pitchFamily="34" charset="0"/>
              <a:cs typeface="Helvetica" panose="020B0604020202020204" pitchFamily="34" charset="0"/>
            </a:endParaRPr>
          </a:p>
          <a:p>
            <a:r>
              <a:rPr lang="it-IT" sz="1800" dirty="0">
                <a:solidFill>
                  <a:srgbClr val="0F0F0F"/>
                </a:solidFill>
                <a:latin typeface="Helvetica" panose="020B0604020202020204" pitchFamily="34" charset="0"/>
                <a:cs typeface="Helvetica" panose="020B0604020202020204" pitchFamily="34" charset="0"/>
              </a:rPr>
              <a:t>Rappresentazione del problema su grafo</a:t>
            </a:r>
          </a:p>
          <a:p>
            <a:r>
              <a:rPr lang="it-IT" sz="1800" dirty="0">
                <a:solidFill>
                  <a:srgbClr val="0F0F0F"/>
                </a:solidFill>
                <a:latin typeface="Helvetica" panose="020B0604020202020204" pitchFamily="34" charset="0"/>
                <a:cs typeface="Helvetica" panose="020B0604020202020204" pitchFamily="34" charset="0"/>
              </a:rPr>
              <a:t>I nodi rappresentano i task</a:t>
            </a:r>
          </a:p>
          <a:p>
            <a:r>
              <a:rPr lang="it-IT" sz="1800" dirty="0">
                <a:solidFill>
                  <a:srgbClr val="0F0F0F"/>
                </a:solidFill>
                <a:latin typeface="Helvetica" panose="020B0604020202020204" pitchFamily="34" charset="0"/>
                <a:cs typeface="Helvetica" panose="020B0604020202020204" pitchFamily="34" charset="0"/>
              </a:rPr>
              <a:t>Gli archi rappresentano i viaggi possibili dei sistemi UAV</a:t>
            </a:r>
          </a:p>
          <a:p>
            <a:r>
              <a:rPr lang="it-IT" sz="1800" dirty="0">
                <a:solidFill>
                  <a:srgbClr val="0F0F0F"/>
                </a:solidFill>
                <a:latin typeface="Helvetica" panose="020B0604020202020204" pitchFamily="34" charset="0"/>
                <a:cs typeface="Helvetica" panose="020B0604020202020204" pitchFamily="34" charset="0"/>
              </a:rPr>
              <a:t>Si considerano finestre temporali associate a ciascun task</a:t>
            </a:r>
          </a:p>
          <a:p>
            <a:r>
              <a:rPr lang="it-IT" sz="1800" dirty="0">
                <a:solidFill>
                  <a:srgbClr val="0F0F0F"/>
                </a:solidFill>
                <a:latin typeface="Helvetica" panose="020B0604020202020204" pitchFamily="34" charset="0"/>
                <a:cs typeface="Helvetica" panose="020B0604020202020204" pitchFamily="34" charset="0"/>
              </a:rPr>
              <a:t>Gestione accurata delle lunghezze dei tour:</a:t>
            </a:r>
          </a:p>
          <a:p>
            <a:pPr lvl="1"/>
            <a:r>
              <a:rPr lang="it-IT" sz="1800" dirty="0">
                <a:solidFill>
                  <a:srgbClr val="0F0F0F"/>
                </a:solidFill>
                <a:latin typeface="Helvetica" panose="020B0604020202020204" pitchFamily="34" charset="0"/>
                <a:cs typeface="Helvetica" panose="020B0604020202020204" pitchFamily="34" charset="0"/>
              </a:rPr>
              <a:t>Vincoli sulla distanza complessiva tra la stazione di controllo e i task</a:t>
            </a:r>
          </a:p>
          <a:p>
            <a:pPr lvl="1"/>
            <a:r>
              <a:rPr lang="it-IT" sz="1800" dirty="0">
                <a:solidFill>
                  <a:srgbClr val="0F0F0F"/>
                </a:solidFill>
                <a:latin typeface="Helvetica" panose="020B0604020202020204" pitchFamily="34" charset="0"/>
                <a:cs typeface="Helvetica" panose="020B0604020202020204" pitchFamily="34" charset="0"/>
              </a:rPr>
              <a:t>Vincoli sulla distanza complessiva tra i task e la stazione di controllo</a:t>
            </a:r>
          </a:p>
          <a:p>
            <a:endParaRPr lang="it-IT" sz="2200" dirty="0">
              <a:solidFill>
                <a:srgbClr val="0F0F0F"/>
              </a:solidFill>
              <a:latin typeface="Helvetica" panose="020B0604020202020204" pitchFamily="34" charset="0"/>
              <a:cs typeface="Helvetica" panose="020B0604020202020204" pitchFamily="34" charset="0"/>
            </a:endParaRPr>
          </a:p>
          <a:p>
            <a:pPr lvl="1"/>
            <a:endParaRPr lang="it-IT" sz="1400" dirty="0">
              <a:solidFill>
                <a:srgbClr val="0F0F0F"/>
              </a:solidFill>
              <a:latin typeface="Helvetica" panose="020B0604020202020204" pitchFamily="34" charset="0"/>
              <a:cs typeface="Helvetica" panose="020B0604020202020204" pitchFamily="34" charset="0"/>
            </a:endParaRPr>
          </a:p>
          <a:p>
            <a:endParaRPr lang="it-IT" sz="1800" dirty="0">
              <a:solidFill>
                <a:srgbClr val="0F0F0F"/>
              </a:solidFill>
              <a:latin typeface="Helvetica" panose="020B0604020202020204" pitchFamily="34" charset="0"/>
              <a:cs typeface="Helvetica" panose="020B0604020202020204" pitchFamily="34" charset="0"/>
            </a:endParaRPr>
          </a:p>
          <a:p>
            <a:endParaRPr lang="it-IT" sz="1800" dirty="0">
              <a:solidFill>
                <a:srgbClr val="0F0F0F"/>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83067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Notazione del problema</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200" y="1825625"/>
            <a:ext cx="10936266" cy="4049081"/>
          </a:xfrm>
        </p:spPr>
        <p:txBody>
          <a:bodyPr>
            <a:normAutofit/>
          </a:bodyPr>
          <a:lstStyle/>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T = {t₁, t₂, ..., tₙ}</a:t>
            </a:r>
            <a:r>
              <a:rPr lang="it-IT" sz="1800" b="0" i="0" dirty="0">
                <a:solidFill>
                  <a:srgbClr val="374151"/>
                </a:solidFill>
                <a:effectLst/>
                <a:latin typeface="Helvetica" panose="020B0604020202020204" pitchFamily="34" charset="0"/>
                <a:cs typeface="Helvetica" panose="020B0604020202020204" pitchFamily="34" charset="0"/>
              </a:rPr>
              <a:t>: Insieme dei task da esplorare.</a:t>
            </a:r>
          </a:p>
          <a:p>
            <a:pPr algn="l">
              <a:buFont typeface="Arial" panose="020B0604020202020204" pitchFamily="34" charset="0"/>
              <a:buChar char="•"/>
            </a:pPr>
            <a:r>
              <a:rPr lang="it-IT" sz="1800" b="1" i="0" dirty="0" err="1">
                <a:solidFill>
                  <a:srgbClr val="374151"/>
                </a:solidFill>
                <a:effectLst/>
                <a:latin typeface="Helvetica" panose="020B0604020202020204" pitchFamily="34" charset="0"/>
                <a:cs typeface="Helvetica" panose="020B0604020202020204" pitchFamily="34" charset="0"/>
              </a:rPr>
              <a:t>t</a:t>
            </a:r>
            <a:r>
              <a:rPr lang="it-IT" sz="1800" b="1" i="0" baseline="-25000" dirty="0" err="1">
                <a:solidFill>
                  <a:srgbClr val="374151"/>
                </a:solidFill>
                <a:effectLst/>
                <a:latin typeface="Helvetica" panose="020B0604020202020204" pitchFamily="34" charset="0"/>
                <a:cs typeface="Helvetica" panose="020B0604020202020204" pitchFamily="34" charset="0"/>
              </a:rPr>
              <a:t>d</a:t>
            </a:r>
            <a:r>
              <a:rPr lang="it-IT" sz="1800" b="0" i="0" dirty="0">
                <a:solidFill>
                  <a:srgbClr val="374151"/>
                </a:solidFill>
                <a:effectLst/>
                <a:latin typeface="Helvetica" panose="020B0604020202020204" pitchFamily="34" charset="0"/>
                <a:cs typeface="Helvetica" panose="020B0604020202020204" pitchFamily="34" charset="0"/>
              </a:rPr>
              <a:t>: Task relativo alla posizione della stazione di controllo.</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G(V, E)</a:t>
            </a:r>
            <a:r>
              <a:rPr lang="it-IT" sz="1800" b="0" i="0" dirty="0">
                <a:solidFill>
                  <a:srgbClr val="374151"/>
                </a:solidFill>
                <a:effectLst/>
                <a:latin typeface="Helvetica" panose="020B0604020202020204" pitchFamily="34" charset="0"/>
                <a:cs typeface="Helvetica" panose="020B0604020202020204" pitchFamily="34" charset="0"/>
              </a:rPr>
              <a:t>: Grafo rappresentante il problema.</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V</a:t>
            </a:r>
            <a:r>
              <a:rPr lang="it-IT" sz="1800" b="0" i="0" dirty="0">
                <a:solidFill>
                  <a:srgbClr val="374151"/>
                </a:solidFill>
                <a:effectLst/>
                <a:latin typeface="Helvetica" panose="020B0604020202020204" pitchFamily="34" charset="0"/>
                <a:cs typeface="Helvetica" panose="020B0604020202020204" pitchFamily="34" charset="0"/>
              </a:rPr>
              <a:t>: Insieme dei nodi, rappresenta tutte le posizioni (task): V = T ∪ </a:t>
            </a:r>
            <a:r>
              <a:rPr lang="it-IT" sz="1800" b="0" i="0" dirty="0" err="1">
                <a:solidFill>
                  <a:srgbClr val="374151"/>
                </a:solidFill>
                <a:effectLst/>
                <a:latin typeface="Helvetica" panose="020B0604020202020204" pitchFamily="34" charset="0"/>
                <a:cs typeface="Helvetica" panose="020B0604020202020204" pitchFamily="34" charset="0"/>
              </a:rPr>
              <a:t>t</a:t>
            </a:r>
            <a:r>
              <a:rPr lang="it-IT" sz="1800" b="0" i="0" baseline="-25000" dirty="0" err="1">
                <a:solidFill>
                  <a:srgbClr val="374151"/>
                </a:solidFill>
                <a:effectLst/>
                <a:latin typeface="Helvetica" panose="020B0604020202020204" pitchFamily="34" charset="0"/>
                <a:cs typeface="Helvetica" panose="020B0604020202020204" pitchFamily="34" charset="0"/>
              </a:rPr>
              <a:t>d</a:t>
            </a:r>
            <a:r>
              <a:rPr lang="it-IT" sz="1800" b="0" i="0" dirty="0">
                <a:solidFill>
                  <a:srgbClr val="374151"/>
                </a:solidFill>
                <a:effectLst/>
                <a:latin typeface="Helvetica" panose="020B0604020202020204" pitchFamily="34" charset="0"/>
                <a:cs typeface="Helvetica" panose="020B0604020202020204" pitchFamily="34" charset="0"/>
              </a:rPr>
              <a:t>.</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E</a:t>
            </a:r>
            <a:r>
              <a:rPr lang="it-IT" sz="1800" b="0" i="0" dirty="0">
                <a:solidFill>
                  <a:srgbClr val="374151"/>
                </a:solidFill>
                <a:effectLst/>
                <a:latin typeface="Helvetica" panose="020B0604020202020204" pitchFamily="34" charset="0"/>
                <a:cs typeface="Helvetica" panose="020B0604020202020204" pitchFamily="34" charset="0"/>
              </a:rPr>
              <a:t>: Insieme degli archi per ogni coppia di nodi V.</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wᵢ</a:t>
            </a:r>
            <a:r>
              <a:rPr lang="it-IT" sz="1800" b="0" i="0" dirty="0">
                <a:solidFill>
                  <a:srgbClr val="374151"/>
                </a:solidFill>
                <a:effectLst/>
                <a:latin typeface="Helvetica" panose="020B0604020202020204" pitchFamily="34" charset="0"/>
                <a:cs typeface="Helvetica" panose="020B0604020202020204" pitchFamily="34" charset="0"/>
              </a:rPr>
              <a:t>: Priorità percentuale associata ad ogni task.</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p</a:t>
            </a:r>
            <a:r>
              <a:rPr lang="it-IT" sz="1800" b="0" i="0" dirty="0">
                <a:solidFill>
                  <a:srgbClr val="374151"/>
                </a:solidFill>
                <a:effectLst/>
                <a:latin typeface="Helvetica" panose="020B0604020202020204" pitchFamily="34" charset="0"/>
                <a:cs typeface="Helvetica" panose="020B0604020202020204" pitchFamily="34" charset="0"/>
              </a:rPr>
              <a:t>: Prezzo di acquisto per ciascun drone.</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nᵥ</a:t>
            </a:r>
            <a:r>
              <a:rPr lang="it-IT" sz="1800" b="0" i="0" dirty="0">
                <a:solidFill>
                  <a:srgbClr val="374151"/>
                </a:solidFill>
                <a:effectLst/>
                <a:latin typeface="Helvetica" panose="020B0604020202020204" pitchFamily="34" charset="0"/>
                <a:cs typeface="Helvetica" panose="020B0604020202020204" pitchFamily="34" charset="0"/>
              </a:rPr>
              <a:t>: Numero massimo di droni acquistabili.</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cᵢⱼ</a:t>
            </a:r>
            <a:r>
              <a:rPr lang="it-IT" sz="1800" b="0" i="0" dirty="0">
                <a:solidFill>
                  <a:srgbClr val="374151"/>
                </a:solidFill>
                <a:effectLst/>
                <a:latin typeface="Helvetica" panose="020B0604020202020204" pitchFamily="34" charset="0"/>
                <a:cs typeface="Helvetica" panose="020B0604020202020204" pitchFamily="34" charset="0"/>
              </a:rPr>
              <a:t>: Tempo di viaggio diretto dal nodo i al nodo j, definito per connessioni tra task e connessioni tra un task e la stazione di controllo.</a:t>
            </a:r>
          </a:p>
        </p:txBody>
      </p:sp>
    </p:spTree>
    <p:extLst>
      <p:ext uri="{BB962C8B-B14F-4D97-AF65-F5344CB8AC3E}">
        <p14:creationId xmlns:p14="http://schemas.microsoft.com/office/powerpoint/2010/main" val="3417304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Variabili decisionali</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200" y="1825625"/>
            <a:ext cx="10936266" cy="4049081"/>
          </a:xfrm>
        </p:spPr>
        <p:txBody>
          <a:bodyPr>
            <a:normAutofit/>
          </a:bodyPr>
          <a:lstStyle/>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xᵢⱼ</a:t>
            </a:r>
            <a:r>
              <a:rPr lang="it-IT" sz="1800" b="0" i="0" dirty="0">
                <a:solidFill>
                  <a:srgbClr val="374151"/>
                </a:solidFill>
                <a:effectLst/>
                <a:latin typeface="Helvetica" panose="020B0604020202020204" pitchFamily="34" charset="0"/>
                <a:cs typeface="Helvetica" panose="020B0604020202020204" pitchFamily="34" charset="0"/>
              </a:rPr>
              <a:t>:</a:t>
            </a:r>
            <a:br>
              <a:rPr lang="it-IT" sz="1800" b="0" i="0" dirty="0">
                <a:solidFill>
                  <a:srgbClr val="374151"/>
                </a:solidFill>
                <a:effectLst/>
                <a:latin typeface="Helvetica" panose="020B0604020202020204" pitchFamily="34" charset="0"/>
                <a:cs typeface="Helvetica" panose="020B0604020202020204" pitchFamily="34" charset="0"/>
              </a:rPr>
            </a:br>
            <a:r>
              <a:rPr lang="it-IT" sz="1800" b="0" i="0" dirty="0">
                <a:solidFill>
                  <a:srgbClr val="374151"/>
                </a:solidFill>
                <a:effectLst/>
                <a:latin typeface="Helvetica" panose="020B0604020202020204" pitchFamily="34" charset="0"/>
                <a:cs typeface="Helvetica" panose="020B0604020202020204" pitchFamily="34" charset="0"/>
              </a:rPr>
              <a:t>	0 altrimenti.</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d</a:t>
            </a:r>
            <a:r>
              <a:rPr lang="it-IT" sz="1800" b="0" i="0" dirty="0">
                <a:solidFill>
                  <a:srgbClr val="374151"/>
                </a:solidFill>
                <a:effectLst/>
                <a:latin typeface="Helvetica" panose="020B0604020202020204" pitchFamily="34" charset="0"/>
                <a:cs typeface="Helvetica" panose="020B0604020202020204" pitchFamily="34" charset="0"/>
              </a:rPr>
              <a:t> ∈ ℤ:</a:t>
            </a:r>
          </a:p>
          <a:p>
            <a:pPr marL="742950" lvl="1" indent="-285750"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Il numero di droni acquistati.</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uᵢ</a:t>
            </a:r>
            <a:r>
              <a:rPr lang="it-IT" sz="1800" b="0" i="0" dirty="0">
                <a:solidFill>
                  <a:srgbClr val="374151"/>
                </a:solidFill>
                <a:effectLst/>
                <a:latin typeface="Helvetica" panose="020B0604020202020204" pitchFamily="34" charset="0"/>
                <a:cs typeface="Helvetica" panose="020B0604020202020204" pitchFamily="34" charset="0"/>
              </a:rPr>
              <a:t> ∈ ℝ:</a:t>
            </a:r>
          </a:p>
          <a:p>
            <a:pPr marL="742950" lvl="1" indent="-285750"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Il tempo di viaggio dalla stazione di controllo al task tᵢ.</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vᵢ</a:t>
            </a:r>
            <a:r>
              <a:rPr lang="it-IT" sz="1800" b="0" i="0" dirty="0">
                <a:solidFill>
                  <a:srgbClr val="374151"/>
                </a:solidFill>
                <a:effectLst/>
                <a:latin typeface="Helvetica" panose="020B0604020202020204" pitchFamily="34" charset="0"/>
                <a:cs typeface="Helvetica" panose="020B0604020202020204" pitchFamily="34" charset="0"/>
              </a:rPr>
              <a:t> ∈ ℝ:</a:t>
            </a:r>
          </a:p>
          <a:p>
            <a:pPr marL="742950" lvl="1" indent="-285750"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Il tempo di ritorno dal task tᵢ alla stazione di controllo.</a:t>
            </a:r>
          </a:p>
          <a:p>
            <a:pPr algn="l">
              <a:buFont typeface="Arial" panose="020B0604020202020204" pitchFamily="34" charset="0"/>
              <a:buChar char="•"/>
            </a:pPr>
            <a:r>
              <a:rPr lang="it-IT" sz="1800" b="1" i="0" dirty="0">
                <a:solidFill>
                  <a:srgbClr val="374151"/>
                </a:solidFill>
                <a:effectLst/>
                <a:latin typeface="Helvetica" panose="020B0604020202020204" pitchFamily="34" charset="0"/>
                <a:cs typeface="Helvetica" panose="020B0604020202020204" pitchFamily="34" charset="0"/>
              </a:rPr>
              <a:t>R = {R₁, R₂, ..., Rₙ}</a:t>
            </a:r>
            <a:r>
              <a:rPr lang="it-IT" sz="1800" b="0" i="0" dirty="0">
                <a:solidFill>
                  <a:srgbClr val="374151"/>
                </a:solidFill>
                <a:effectLst/>
                <a:latin typeface="Helvetica" panose="020B0604020202020204" pitchFamily="34" charset="0"/>
                <a:cs typeface="Helvetica" panose="020B0604020202020204" pitchFamily="34" charset="0"/>
              </a:rPr>
              <a:t> ∈ ℝ:</a:t>
            </a:r>
          </a:p>
          <a:p>
            <a:pPr marL="742950" lvl="1" indent="-285750"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Il periodo di rivisita per ciascun task dell'insieme T.</a:t>
            </a:r>
          </a:p>
        </p:txBody>
      </p:sp>
      <p:sp>
        <p:nvSpPr>
          <p:cNvPr id="3" name="CasellaDiTesto 2">
            <a:extLst>
              <a:ext uri="{FF2B5EF4-FFF2-40B4-BE49-F238E27FC236}">
                <a16:creationId xmlns:a16="http://schemas.microsoft.com/office/drawing/2014/main" id="{BF637F95-CC13-D9D1-E26C-BDDDAAF12B8F}"/>
              </a:ext>
            </a:extLst>
          </p:cNvPr>
          <p:cNvSpPr txBox="1"/>
          <p:nvPr/>
        </p:nvSpPr>
        <p:spPr>
          <a:xfrm>
            <a:off x="1744250" y="1640959"/>
            <a:ext cx="6093912" cy="369332"/>
          </a:xfrm>
          <a:prstGeom prst="rect">
            <a:avLst/>
          </a:prstGeom>
          <a:noFill/>
        </p:spPr>
        <p:txBody>
          <a:bodyPr wrap="square">
            <a:spAutoFit/>
          </a:bodyPr>
          <a:lstStyle/>
          <a:p>
            <a:pPr algn="l"/>
            <a:r>
              <a:rPr lang="it-IT" dirty="0">
                <a:solidFill>
                  <a:srgbClr val="374151"/>
                </a:solidFill>
                <a:latin typeface="Helvetica" panose="020B0604020202020204" pitchFamily="34" charset="0"/>
                <a:cs typeface="Helvetica" panose="020B0604020202020204" pitchFamily="34" charset="0"/>
              </a:rPr>
              <a:t>1</a:t>
            </a:r>
            <a:r>
              <a:rPr lang="it-IT" sz="1800" b="0" i="0" dirty="0">
                <a:solidFill>
                  <a:srgbClr val="374151"/>
                </a:solidFill>
                <a:effectLst/>
                <a:latin typeface="Helvetica" panose="020B0604020202020204" pitchFamily="34" charset="0"/>
                <a:cs typeface="Helvetica" panose="020B0604020202020204" pitchFamily="34" charset="0"/>
              </a:rPr>
              <a:t> se ad un arco (i, j) è assegnato un UAV.</a:t>
            </a:r>
          </a:p>
        </p:txBody>
      </p:sp>
      <p:pic>
        <p:nvPicPr>
          <p:cNvPr id="5" name="Immagine 4">
            <a:extLst>
              <a:ext uri="{FF2B5EF4-FFF2-40B4-BE49-F238E27FC236}">
                <a16:creationId xmlns:a16="http://schemas.microsoft.com/office/drawing/2014/main" id="{C74C71E6-4700-0BED-DD94-F1AD2FB6BED0}"/>
              </a:ext>
            </a:extLst>
          </p:cNvPr>
          <p:cNvPicPr>
            <a:picLocks noChangeAspect="1"/>
          </p:cNvPicPr>
          <p:nvPr/>
        </p:nvPicPr>
        <p:blipFill>
          <a:blip r:embed="rId5"/>
          <a:stretch>
            <a:fillRect/>
          </a:stretch>
        </p:blipFill>
        <p:spPr>
          <a:xfrm>
            <a:off x="1494670" y="1615955"/>
            <a:ext cx="318890" cy="738482"/>
          </a:xfrm>
          <a:prstGeom prst="rect">
            <a:avLst/>
          </a:prstGeom>
        </p:spPr>
      </p:pic>
    </p:spTree>
    <p:extLst>
      <p:ext uri="{BB962C8B-B14F-4D97-AF65-F5344CB8AC3E}">
        <p14:creationId xmlns:p14="http://schemas.microsoft.com/office/powerpoint/2010/main" val="106087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p:txBody>
          <a:bodyPr/>
          <a:lstStyle/>
          <a:p>
            <a:r>
              <a:rPr lang="it-IT" dirty="0">
                <a:latin typeface="Helvetica" panose="020B0604020202020204" pitchFamily="34" charset="0"/>
                <a:cs typeface="Helvetica" panose="020B0604020202020204" pitchFamily="34" charset="0"/>
              </a:rPr>
              <a:t>Funzione obiettivo</a:t>
            </a:r>
          </a:p>
        </p:txBody>
      </p:sp>
      <mc:AlternateContent xmlns:mc="http://schemas.openxmlformats.org/markup-compatibility/2006">
        <mc:Choice xmlns:a14="http://schemas.microsoft.com/office/drawing/2010/main" Requires="a14">
          <p:sp>
            <p:nvSpPr>
              <p:cNvPr id="2" name="Segnaposto contenuto 1">
                <a:extLst>
                  <a:ext uri="{FF2B5EF4-FFF2-40B4-BE49-F238E27FC236}">
                    <a16:creationId xmlns:a16="http://schemas.microsoft.com/office/drawing/2014/main" id="{C692FEAB-2DA4-1FC6-8DB4-7C4E608FD435}"/>
                  </a:ext>
                </a:extLst>
              </p:cNvPr>
              <p:cNvSpPr>
                <a:spLocks noGrp="1"/>
              </p:cNvSpPr>
              <p:nvPr>
                <p:ph sz="half" idx="1"/>
              </p:nvPr>
            </p:nvSpPr>
            <p:spPr>
              <a:xfrm>
                <a:off x="838200" y="4059692"/>
                <a:ext cx="4495800" cy="1994813"/>
              </a:xfrm>
            </p:spPr>
            <p:style>
              <a:lnRef idx="1">
                <a:schemeClr val="accent4"/>
              </a:lnRef>
              <a:fillRef idx="2">
                <a:schemeClr val="accent4"/>
              </a:fillRef>
              <a:effectRef idx="1">
                <a:schemeClr val="accent4"/>
              </a:effectRef>
              <a:fontRef idx="minor">
                <a:schemeClr val="dk1"/>
              </a:fontRef>
            </p:style>
            <p:txBody>
              <a:bodyPr>
                <a:normAutofit/>
              </a:bodyPr>
              <a:lstStyle/>
              <a:p>
                <a:pPr marL="0" indent="0" algn="ctr">
                  <a:buNone/>
                </a:pPr>
                <a:r>
                  <a:rPr lang="it-IT" sz="1800" b="1" dirty="0">
                    <a:latin typeface="Helvetica" panose="020B0604020202020204" pitchFamily="34" charset="0"/>
                    <a:cs typeface="Helvetica" panose="020B0604020202020204" pitchFamily="34" charset="0"/>
                  </a:rPr>
                  <a:t>Minimizzazione della somma pesata dei periodi di rivisita di tutti i task</a:t>
                </a:r>
              </a:p>
              <a:p>
                <a:pPr marL="0" indent="0" algn="ctr">
                  <a:buNone/>
                </a:pPr>
                <a:endParaRPr lang="it-IT" sz="1800" b="1" dirty="0">
                  <a:latin typeface="Helvetica" panose="020B0604020202020204" pitchFamily="34" charset="0"/>
                  <a:cs typeface="Helvetica" panose="020B0604020202020204" pitchFamily="34"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𝑧</m:t>
                          </m:r>
                        </m:e>
                        <m:sub>
                          <m:r>
                            <a:rPr lang="it-IT" sz="1800" b="0" i="1" smtClean="0">
                              <a:latin typeface="Cambria Math" panose="02040503050406030204" pitchFamily="18" charset="0"/>
                              <a:cs typeface="Helvetica" panose="020B0604020202020204" pitchFamily="34" charset="0"/>
                            </a:rPr>
                            <m:t>1</m:t>
                          </m:r>
                        </m:sub>
                      </m:sSub>
                      <m:d>
                        <m:dPr>
                          <m:ctrlPr>
                            <a:rPr lang="it-IT" sz="1800" b="0" i="1" smtClean="0">
                              <a:latin typeface="Cambria Math" panose="02040503050406030204" pitchFamily="18" charset="0"/>
                              <a:cs typeface="Helvetica" panose="020B0604020202020204" pitchFamily="34" charset="0"/>
                            </a:rPr>
                          </m:ctrlPr>
                        </m:dPr>
                        <m:e>
                          <m:r>
                            <a:rPr lang="it-IT" sz="1800" b="0" i="1" smtClean="0">
                              <a:latin typeface="Cambria Math" panose="02040503050406030204" pitchFamily="18" charset="0"/>
                              <a:cs typeface="Helvetica" panose="020B0604020202020204" pitchFamily="34" charset="0"/>
                            </a:rPr>
                            <m:t>𝑥</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𝑢</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𝑣</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𝑅</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𝑑</m:t>
                          </m:r>
                        </m:e>
                      </m:d>
                      <m:r>
                        <a:rPr lang="it-IT" sz="1800" b="0" i="1" smtClean="0">
                          <a:latin typeface="Cambria Math" panose="02040503050406030204" pitchFamily="18" charset="0"/>
                          <a:cs typeface="Helvetica" panose="020B0604020202020204" pitchFamily="34" charset="0"/>
                        </a:rPr>
                        <m:t>=</m:t>
                      </m:r>
                      <m:func>
                        <m:funcPr>
                          <m:ctrlPr>
                            <a:rPr lang="it-IT" sz="1800" b="0" i="1" smtClean="0">
                              <a:latin typeface="Cambria Math" panose="02040503050406030204" pitchFamily="18" charset="0"/>
                              <a:cs typeface="Helvetica" panose="020B0604020202020204" pitchFamily="34" charset="0"/>
                            </a:rPr>
                          </m:ctrlPr>
                        </m:funcPr>
                        <m:fName>
                          <m:r>
                            <m:rPr>
                              <m:sty m:val="p"/>
                            </m:rPr>
                            <a:rPr lang="it-IT" sz="1800" b="0" i="0" smtClean="0">
                              <a:latin typeface="Cambria Math" panose="02040503050406030204" pitchFamily="18" charset="0"/>
                              <a:cs typeface="Helvetica" panose="020B0604020202020204" pitchFamily="34" charset="0"/>
                            </a:rPr>
                            <m:t>min</m:t>
                          </m:r>
                        </m:fName>
                        <m:e>
                          <m:nary>
                            <m:naryPr>
                              <m:chr m:val="∑"/>
                              <m:supHide m:val="on"/>
                              <m:ctrlPr>
                                <a:rPr lang="it-IT" sz="1800" b="0" i="1" smtClean="0">
                                  <a:latin typeface="Cambria Math" panose="02040503050406030204" pitchFamily="18" charset="0"/>
                                  <a:cs typeface="Helvetica" panose="020B0604020202020204" pitchFamily="34" charset="0"/>
                                </a:rPr>
                              </m:ctrlPr>
                            </m:naryPr>
                            <m:sub>
                              <m:r>
                                <a:rPr lang="it-IT" sz="1800" b="0" i="1" smtClean="0">
                                  <a:latin typeface="Cambria Math" panose="02040503050406030204" pitchFamily="18" charset="0"/>
                                  <a:cs typeface="Helvetica" panose="020B0604020202020204" pitchFamily="34" charset="0"/>
                                </a:rPr>
                                <m:t>𝑖</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𝑇</m:t>
                              </m:r>
                            </m:sub>
                            <m:sup/>
                            <m:e>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𝑤</m:t>
                                  </m:r>
                                </m:e>
                                <m:sub>
                                  <m:r>
                                    <a:rPr lang="it-IT" sz="1800" b="0" i="1" smtClean="0">
                                      <a:latin typeface="Cambria Math" panose="02040503050406030204" pitchFamily="18" charset="0"/>
                                      <a:cs typeface="Helvetica" panose="020B0604020202020204" pitchFamily="34" charset="0"/>
                                    </a:rPr>
                                    <m:t>𝑖</m:t>
                                  </m:r>
                                </m:sub>
                              </m:sSub>
                              <m:r>
                                <a:rPr lang="it-IT" sz="1800" b="0" i="1" smtClean="0">
                                  <a:latin typeface="Cambria Math" panose="02040503050406030204" pitchFamily="18" charset="0"/>
                                  <a:cs typeface="Helvetica" panose="020B0604020202020204" pitchFamily="34" charset="0"/>
                                </a:rPr>
                                <m:t>∙</m:t>
                              </m:r>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𝑅</m:t>
                                  </m:r>
                                </m:e>
                                <m:sub>
                                  <m:r>
                                    <a:rPr lang="it-IT" sz="1800" b="0" i="1" smtClean="0">
                                      <a:latin typeface="Cambria Math" panose="02040503050406030204" pitchFamily="18" charset="0"/>
                                      <a:cs typeface="Helvetica" panose="020B0604020202020204" pitchFamily="34" charset="0"/>
                                    </a:rPr>
                                    <m:t>𝑖</m:t>
                                  </m:r>
                                </m:sub>
                              </m:sSub>
                            </m:e>
                          </m:nary>
                        </m:e>
                      </m:func>
                    </m:oMath>
                  </m:oMathPara>
                </a14:m>
                <a:endParaRPr lang="it-IT" sz="1800" dirty="0">
                  <a:latin typeface="Helvetica" panose="020B0604020202020204" pitchFamily="34" charset="0"/>
                  <a:cs typeface="Helvetica" panose="020B0604020202020204" pitchFamily="34" charset="0"/>
                </a:endParaRPr>
              </a:p>
            </p:txBody>
          </p:sp>
        </mc:Choice>
        <mc:Fallback>
          <p:sp>
            <p:nvSpPr>
              <p:cNvPr id="2" name="Segnaposto contenuto 1">
                <a:extLst>
                  <a:ext uri="{FF2B5EF4-FFF2-40B4-BE49-F238E27FC236}">
                    <a16:creationId xmlns:a16="http://schemas.microsoft.com/office/drawing/2014/main" id="{C692FEAB-2DA4-1FC6-8DB4-7C4E608FD435}"/>
                  </a:ext>
                </a:extLst>
              </p:cNvPr>
              <p:cNvSpPr>
                <a:spLocks noGrp="1" noRot="1" noChangeAspect="1" noMove="1" noResize="1" noEditPoints="1" noAdjustHandles="1" noChangeArrowheads="1" noChangeShapeType="1" noTextEdit="1"/>
              </p:cNvSpPr>
              <p:nvPr>
                <p:ph sz="half" idx="1"/>
              </p:nvPr>
            </p:nvSpPr>
            <p:spPr>
              <a:xfrm>
                <a:off x="838200" y="4059692"/>
                <a:ext cx="4495800" cy="1994813"/>
              </a:xfrm>
              <a:blipFill>
                <a:blip r:embed="rId5"/>
                <a:stretch>
                  <a:fillRect l="-1084" t="-3049" r="-2168"/>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4" name="Segnaposto contenuto 3">
                <a:extLst>
                  <a:ext uri="{FF2B5EF4-FFF2-40B4-BE49-F238E27FC236}">
                    <a16:creationId xmlns:a16="http://schemas.microsoft.com/office/drawing/2014/main" id="{4CF00CC8-C945-8805-42BC-FD6386930F50}"/>
                  </a:ext>
                </a:extLst>
              </p:cNvPr>
              <p:cNvSpPr>
                <a:spLocks noGrp="1"/>
              </p:cNvSpPr>
              <p:nvPr>
                <p:ph sz="half" idx="2"/>
              </p:nvPr>
            </p:nvSpPr>
            <p:spPr>
              <a:xfrm>
                <a:off x="6858002" y="4059692"/>
                <a:ext cx="4495801" cy="1994813"/>
              </a:xfrm>
            </p:spPr>
            <p:style>
              <a:lnRef idx="1">
                <a:schemeClr val="accent5"/>
              </a:lnRef>
              <a:fillRef idx="2">
                <a:schemeClr val="accent5"/>
              </a:fillRef>
              <a:effectRef idx="1">
                <a:schemeClr val="accent5"/>
              </a:effectRef>
              <a:fontRef idx="minor">
                <a:schemeClr val="dk1"/>
              </a:fontRef>
            </p:style>
            <p:txBody>
              <a:bodyPr>
                <a:normAutofit/>
              </a:bodyPr>
              <a:lstStyle/>
              <a:p>
                <a:pPr marL="0" indent="0" algn="ctr">
                  <a:buNone/>
                </a:pPr>
                <a:r>
                  <a:rPr lang="it-IT" sz="1800" b="1" dirty="0">
                    <a:latin typeface="Helvetica" panose="020B0604020202020204" pitchFamily="34" charset="0"/>
                    <a:cs typeface="Helvetica" panose="020B0604020202020204" pitchFamily="34" charset="0"/>
                  </a:rPr>
                  <a:t>Minimizzazione del costo di acquisto dei droni</a:t>
                </a:r>
              </a:p>
              <a:p>
                <a:pPr marL="0" indent="0" algn="ctr">
                  <a:buNone/>
                </a:pPr>
                <a:endParaRPr lang="it-IT" sz="1800" dirty="0">
                  <a:latin typeface="Helvetica" panose="020B0604020202020204" pitchFamily="34" charset="0"/>
                  <a:cs typeface="Helvetica" panose="020B0604020202020204" pitchFamily="34"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𝑧</m:t>
                          </m:r>
                        </m:e>
                        <m:sub>
                          <m:r>
                            <a:rPr lang="it-IT" sz="1800" b="0" i="1" smtClean="0">
                              <a:latin typeface="Cambria Math" panose="02040503050406030204" pitchFamily="18" charset="0"/>
                              <a:cs typeface="Helvetica" panose="020B0604020202020204" pitchFamily="34" charset="0"/>
                            </a:rPr>
                            <m:t>2</m:t>
                          </m:r>
                        </m:sub>
                      </m:sSub>
                      <m:d>
                        <m:dPr>
                          <m:ctrlPr>
                            <a:rPr lang="it-IT" sz="1800" b="0" i="1" smtClean="0">
                              <a:latin typeface="Cambria Math" panose="02040503050406030204" pitchFamily="18" charset="0"/>
                              <a:cs typeface="Helvetica" panose="020B0604020202020204" pitchFamily="34" charset="0"/>
                            </a:rPr>
                          </m:ctrlPr>
                        </m:dPr>
                        <m:e>
                          <m:r>
                            <a:rPr lang="it-IT" sz="1800" b="0" i="1" smtClean="0">
                              <a:latin typeface="Cambria Math" panose="02040503050406030204" pitchFamily="18" charset="0"/>
                              <a:cs typeface="Helvetica" panose="020B0604020202020204" pitchFamily="34" charset="0"/>
                            </a:rPr>
                            <m:t>𝑥</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𝑢</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𝑣</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𝑅</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𝑑</m:t>
                          </m:r>
                        </m:e>
                      </m:d>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𝑝</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𝑑</m:t>
                      </m:r>
                    </m:oMath>
                  </m:oMathPara>
                </a14:m>
                <a:endParaRPr lang="it-IT" sz="1800" dirty="0">
                  <a:latin typeface="Helvetica" panose="020B0604020202020204" pitchFamily="34" charset="0"/>
                  <a:cs typeface="Helvetica" panose="020B0604020202020204" pitchFamily="34" charset="0"/>
                </a:endParaRPr>
              </a:p>
            </p:txBody>
          </p:sp>
        </mc:Choice>
        <mc:Fallback>
          <p:sp>
            <p:nvSpPr>
              <p:cNvPr id="4" name="Segnaposto contenuto 3">
                <a:extLst>
                  <a:ext uri="{FF2B5EF4-FFF2-40B4-BE49-F238E27FC236}">
                    <a16:creationId xmlns:a16="http://schemas.microsoft.com/office/drawing/2014/main" id="{4CF00CC8-C945-8805-42BC-FD6386930F50}"/>
                  </a:ext>
                </a:extLst>
              </p:cNvPr>
              <p:cNvSpPr>
                <a:spLocks noGrp="1" noRot="1" noChangeAspect="1" noMove="1" noResize="1" noEditPoints="1" noAdjustHandles="1" noChangeArrowheads="1" noChangeShapeType="1" noTextEdit="1"/>
              </p:cNvSpPr>
              <p:nvPr>
                <p:ph sz="half" idx="2"/>
              </p:nvPr>
            </p:nvSpPr>
            <p:spPr>
              <a:xfrm>
                <a:off x="6858002" y="4059692"/>
                <a:ext cx="4495801" cy="1994813"/>
              </a:xfrm>
              <a:blipFill>
                <a:blip r:embed="rId6"/>
                <a:stretch>
                  <a:fillRect t="-3049"/>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Segnaposto contenuto 3">
                <a:extLst>
                  <a:ext uri="{FF2B5EF4-FFF2-40B4-BE49-F238E27FC236}">
                    <a16:creationId xmlns:a16="http://schemas.microsoft.com/office/drawing/2014/main" id="{0EAADA61-0DA5-A778-CAEC-8D96DB5CFDDA}"/>
                  </a:ext>
                </a:extLst>
              </p:cNvPr>
              <p:cNvSpPr txBox="1">
                <a:spLocks/>
              </p:cNvSpPr>
              <p:nvPr/>
            </p:nvSpPr>
            <p:spPr>
              <a:xfrm>
                <a:off x="3505200" y="1826776"/>
                <a:ext cx="5181600" cy="1603375"/>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800" b="1" dirty="0">
                    <a:latin typeface="Helvetica" panose="020B0604020202020204" pitchFamily="34" charset="0"/>
                    <a:cs typeface="Helvetica" panose="020B0604020202020204" pitchFamily="34" charset="0"/>
                  </a:rPr>
                  <a:t>Funzione multi obiettivo</a:t>
                </a:r>
              </a:p>
              <a:p>
                <a:pPr marL="0" indent="0" algn="ctr">
                  <a:buFont typeface="Arial" panose="020B0604020202020204" pitchFamily="34" charset="0"/>
                  <a:buNone/>
                </a:pPr>
                <a:endParaRPr lang="it-IT" sz="1800" dirty="0">
                  <a:latin typeface="Helvetica" panose="020B0604020202020204" pitchFamily="34" charset="0"/>
                  <a:cs typeface="Helvetica" panose="020B0604020202020204" pitchFamily="34" charset="0"/>
                </a:endParaRPr>
              </a:p>
              <a:p>
                <a:pPr marL="0" indent="0" algn="ctr">
                  <a:buNone/>
                </a:pPr>
                <a14:m>
                  <m:oMathPara xmlns:m="http://schemas.openxmlformats.org/officeDocument/2006/math">
                    <m:oMathParaPr>
                      <m:jc m:val="centerGroup"/>
                    </m:oMathParaPr>
                    <m:oMath xmlns:m="http://schemas.openxmlformats.org/officeDocument/2006/math">
                      <m:func>
                        <m:funcPr>
                          <m:ctrlPr>
                            <a:rPr lang="it-IT" sz="1800" b="0" i="1" smtClean="0">
                              <a:latin typeface="Cambria Math" panose="02040503050406030204" pitchFamily="18" charset="0"/>
                              <a:cs typeface="Helvetica" panose="020B0604020202020204" pitchFamily="34" charset="0"/>
                            </a:rPr>
                          </m:ctrlPr>
                        </m:funcPr>
                        <m:fName>
                          <m:r>
                            <m:rPr>
                              <m:sty m:val="p"/>
                            </m:rPr>
                            <a:rPr lang="it-IT" sz="1800" i="0" smtClean="0">
                              <a:latin typeface="Cambria Math" panose="02040503050406030204" pitchFamily="18" charset="0"/>
                              <a:cs typeface="Helvetica" panose="020B0604020202020204" pitchFamily="34" charset="0"/>
                            </a:rPr>
                            <m:t>min</m:t>
                          </m:r>
                        </m:fName>
                        <m:e>
                          <m:r>
                            <a:rPr lang="it-IT" sz="1800" b="0" i="1" smtClean="0">
                              <a:latin typeface="Cambria Math" panose="02040503050406030204" pitchFamily="18" charset="0"/>
                              <a:cs typeface="Helvetica" panose="020B0604020202020204" pitchFamily="34" charset="0"/>
                            </a:rPr>
                            <m:t>{</m:t>
                          </m:r>
                          <m:sSub>
                            <m:sSubPr>
                              <m:ctrlPr>
                                <a:rPr lang="it-IT" sz="1800" i="1">
                                  <a:latin typeface="Cambria Math" panose="02040503050406030204" pitchFamily="18" charset="0"/>
                                  <a:cs typeface="Helvetica" panose="020B0604020202020204" pitchFamily="34" charset="0"/>
                                </a:rPr>
                              </m:ctrlPr>
                            </m:sSubPr>
                            <m:e>
                              <m:r>
                                <a:rPr lang="it-IT" sz="1800" i="1">
                                  <a:latin typeface="Cambria Math" panose="02040503050406030204" pitchFamily="18" charset="0"/>
                                  <a:cs typeface="Helvetica" panose="020B0604020202020204" pitchFamily="34" charset="0"/>
                                </a:rPr>
                                <m:t>𝑧</m:t>
                              </m:r>
                            </m:e>
                            <m:sub>
                              <m:r>
                                <a:rPr lang="it-IT" sz="1800" i="1">
                                  <a:latin typeface="Cambria Math" panose="02040503050406030204" pitchFamily="18" charset="0"/>
                                  <a:cs typeface="Helvetica" panose="020B0604020202020204" pitchFamily="34" charset="0"/>
                                </a:rPr>
                                <m:t>1</m:t>
                              </m:r>
                            </m:sub>
                          </m:sSub>
                          <m:d>
                            <m:dPr>
                              <m:ctrlPr>
                                <a:rPr lang="it-IT" sz="1800" i="1">
                                  <a:latin typeface="Cambria Math" panose="02040503050406030204" pitchFamily="18" charset="0"/>
                                  <a:cs typeface="Helvetica" panose="020B0604020202020204" pitchFamily="34" charset="0"/>
                                </a:rPr>
                              </m:ctrlPr>
                            </m:dPr>
                            <m:e>
                              <m:r>
                                <a:rPr lang="it-IT" sz="1800" i="1">
                                  <a:latin typeface="Cambria Math" panose="02040503050406030204" pitchFamily="18" charset="0"/>
                                  <a:cs typeface="Helvetica" panose="020B0604020202020204" pitchFamily="34" charset="0"/>
                                </a:rPr>
                                <m:t>𝑥</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𝑢</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𝑣</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𝑅</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𝑑</m:t>
                              </m:r>
                            </m:e>
                          </m:d>
                          <m:r>
                            <a:rPr lang="it-IT" sz="1800" b="0" i="1" smtClean="0">
                              <a:latin typeface="Cambria Math" panose="02040503050406030204" pitchFamily="18" charset="0"/>
                              <a:cs typeface="Helvetica" panose="020B0604020202020204" pitchFamily="34" charset="0"/>
                            </a:rPr>
                            <m:t> ,</m:t>
                          </m:r>
                          <m:sSub>
                            <m:sSubPr>
                              <m:ctrlPr>
                                <a:rPr lang="it-IT" sz="1800" i="1">
                                  <a:latin typeface="Cambria Math" panose="02040503050406030204" pitchFamily="18" charset="0"/>
                                  <a:cs typeface="Helvetica" panose="020B0604020202020204" pitchFamily="34" charset="0"/>
                                </a:rPr>
                              </m:ctrlPr>
                            </m:sSubPr>
                            <m:e>
                              <m:r>
                                <a:rPr lang="it-IT" sz="1800" i="1">
                                  <a:latin typeface="Cambria Math" panose="02040503050406030204" pitchFamily="18" charset="0"/>
                                  <a:cs typeface="Helvetica" panose="020B0604020202020204" pitchFamily="34" charset="0"/>
                                </a:rPr>
                                <m:t>𝑧</m:t>
                              </m:r>
                            </m:e>
                            <m:sub>
                              <m:r>
                                <a:rPr lang="it-IT" sz="1800" b="0" i="1" smtClean="0">
                                  <a:latin typeface="Cambria Math" panose="02040503050406030204" pitchFamily="18" charset="0"/>
                                  <a:cs typeface="Helvetica" panose="020B0604020202020204" pitchFamily="34" charset="0"/>
                                </a:rPr>
                                <m:t>2</m:t>
                              </m:r>
                            </m:sub>
                          </m:sSub>
                          <m:d>
                            <m:dPr>
                              <m:ctrlPr>
                                <a:rPr lang="it-IT" sz="1800" i="1">
                                  <a:latin typeface="Cambria Math" panose="02040503050406030204" pitchFamily="18" charset="0"/>
                                  <a:cs typeface="Helvetica" panose="020B0604020202020204" pitchFamily="34" charset="0"/>
                                </a:rPr>
                              </m:ctrlPr>
                            </m:dPr>
                            <m:e>
                              <m:r>
                                <a:rPr lang="it-IT" sz="1800" i="1">
                                  <a:latin typeface="Cambria Math" panose="02040503050406030204" pitchFamily="18" charset="0"/>
                                  <a:cs typeface="Helvetica" panose="020B0604020202020204" pitchFamily="34" charset="0"/>
                                </a:rPr>
                                <m:t>𝑥</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𝑢</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𝑣</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𝑅</m:t>
                              </m:r>
                              <m:r>
                                <a:rPr lang="it-IT" sz="1800" i="1">
                                  <a:latin typeface="Cambria Math" panose="02040503050406030204" pitchFamily="18" charset="0"/>
                                  <a:cs typeface="Helvetica" panose="020B0604020202020204" pitchFamily="34" charset="0"/>
                                </a:rPr>
                                <m:t>,</m:t>
                              </m:r>
                              <m:r>
                                <a:rPr lang="it-IT" sz="1800" i="1">
                                  <a:latin typeface="Cambria Math" panose="02040503050406030204" pitchFamily="18" charset="0"/>
                                  <a:cs typeface="Helvetica" panose="020B0604020202020204" pitchFamily="34" charset="0"/>
                                </a:rPr>
                                <m:t>𝑑</m:t>
                              </m:r>
                            </m:e>
                          </m:d>
                          <m:r>
                            <a:rPr lang="it-IT" sz="1800" b="0" i="1" smtClean="0">
                              <a:latin typeface="Cambria Math" panose="02040503050406030204" pitchFamily="18" charset="0"/>
                              <a:cs typeface="Helvetica" panose="020B0604020202020204" pitchFamily="34" charset="0"/>
                            </a:rPr>
                            <m:t>}</m:t>
                          </m:r>
                        </m:e>
                      </m:func>
                    </m:oMath>
                  </m:oMathPara>
                </a14:m>
                <a:endParaRPr lang="it-IT" sz="1800" dirty="0">
                  <a:latin typeface="Helvetica" panose="020B0604020202020204" pitchFamily="34" charset="0"/>
                  <a:cs typeface="Helvetica" panose="020B0604020202020204" pitchFamily="34" charset="0"/>
                </a:endParaRPr>
              </a:p>
            </p:txBody>
          </p:sp>
        </mc:Choice>
        <mc:Fallback>
          <p:sp>
            <p:nvSpPr>
              <p:cNvPr id="6" name="Segnaposto contenuto 3">
                <a:extLst>
                  <a:ext uri="{FF2B5EF4-FFF2-40B4-BE49-F238E27FC236}">
                    <a16:creationId xmlns:a16="http://schemas.microsoft.com/office/drawing/2014/main" id="{0EAADA61-0DA5-A778-CAEC-8D96DB5CFDDA}"/>
                  </a:ext>
                </a:extLst>
              </p:cNvPr>
              <p:cNvSpPr txBox="1">
                <a:spLocks noRot="1" noChangeAspect="1" noMove="1" noResize="1" noEditPoints="1" noAdjustHandles="1" noChangeArrowheads="1" noChangeShapeType="1" noTextEdit="1"/>
              </p:cNvSpPr>
              <p:nvPr/>
            </p:nvSpPr>
            <p:spPr>
              <a:xfrm>
                <a:off x="3505200" y="1826776"/>
                <a:ext cx="5181600" cy="1603375"/>
              </a:xfrm>
              <a:prstGeom prst="rect">
                <a:avLst/>
              </a:prstGeom>
              <a:blipFill>
                <a:blip r:embed="rId7"/>
                <a:stretch>
                  <a:fillRect t="-3788"/>
                </a:stretch>
              </a:blipFill>
            </p:spPr>
            <p:txBody>
              <a:bodyPr/>
              <a:lstStyle/>
              <a:p>
                <a:r>
                  <a:rPr lang="it-IT">
                    <a:noFill/>
                  </a:rPr>
                  <a:t> </a:t>
                </a:r>
              </a:p>
            </p:txBody>
          </p:sp>
        </mc:Fallback>
      </mc:AlternateContent>
    </p:spTree>
    <p:extLst>
      <p:ext uri="{BB962C8B-B14F-4D97-AF65-F5344CB8AC3E}">
        <p14:creationId xmlns:p14="http://schemas.microsoft.com/office/powerpoint/2010/main" val="654394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Vincoli</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478567" y="1789559"/>
            <a:ext cx="3315163" cy="380873"/>
          </a:xfrm>
        </p:spPr>
        <p:txBody>
          <a:bodyPr>
            <a:normAutofit/>
          </a:bodyPr>
          <a:lstStyle/>
          <a:p>
            <a:pPr marL="0" indent="0" algn="l">
              <a:buNone/>
            </a:pPr>
            <a:r>
              <a:rPr lang="it-IT" sz="1800" b="0" i="0" dirty="0">
                <a:solidFill>
                  <a:srgbClr val="374151"/>
                </a:solidFill>
                <a:effectLst/>
                <a:latin typeface="Helvetica" panose="020B0604020202020204" pitchFamily="34" charset="0"/>
                <a:cs typeface="Helvetica" panose="020B0604020202020204" pitchFamily="34" charset="0"/>
              </a:rPr>
              <a:t>Vincoli di grado</a:t>
            </a:r>
            <a:endParaRPr lang="it-IT" sz="1800" dirty="0">
              <a:solidFill>
                <a:srgbClr val="374151"/>
              </a:solidFill>
              <a:latin typeface="Helvetica" panose="020B0604020202020204" pitchFamily="34" charset="0"/>
              <a:cs typeface="Helvetica" panose="020B0604020202020204" pitchFamily="34" charset="0"/>
            </a:endParaRPr>
          </a:p>
          <a:p>
            <a:pPr marL="0" indent="0" algn="l">
              <a:buNone/>
            </a:pPr>
            <a:endParaRPr lang="it-IT" sz="1800" b="0" i="0" dirty="0">
              <a:solidFill>
                <a:srgbClr val="374151"/>
              </a:solidFill>
              <a:effectLst/>
              <a:latin typeface="Helvetica" panose="020B0604020202020204" pitchFamily="34" charset="0"/>
              <a:cs typeface="Helvetica" panose="020B0604020202020204" pitchFamily="34" charset="0"/>
            </a:endParaRPr>
          </a:p>
        </p:txBody>
      </p:sp>
      <p:grpSp>
        <p:nvGrpSpPr>
          <p:cNvPr id="9" name="Gruppo 8">
            <a:extLst>
              <a:ext uri="{FF2B5EF4-FFF2-40B4-BE49-F238E27FC236}">
                <a16:creationId xmlns:a16="http://schemas.microsoft.com/office/drawing/2014/main" id="{73A44CBC-976B-ABB5-0EE9-16D42028CB5E}"/>
              </a:ext>
            </a:extLst>
          </p:cNvPr>
          <p:cNvGrpSpPr/>
          <p:nvPr/>
        </p:nvGrpSpPr>
        <p:grpSpPr>
          <a:xfrm>
            <a:off x="478568" y="2206499"/>
            <a:ext cx="3315163" cy="1857634"/>
            <a:chOff x="838200" y="2206498"/>
            <a:chExt cx="3315163" cy="1857634"/>
          </a:xfrm>
        </p:grpSpPr>
        <p:pic>
          <p:nvPicPr>
            <p:cNvPr id="4" name="Immagine 3">
              <a:extLst>
                <a:ext uri="{FF2B5EF4-FFF2-40B4-BE49-F238E27FC236}">
                  <a16:creationId xmlns:a16="http://schemas.microsoft.com/office/drawing/2014/main" id="{3EBA3C0F-B9AB-3A7E-CC07-09D1AB4B170C}"/>
                </a:ext>
              </a:extLst>
            </p:cNvPr>
            <p:cNvPicPr>
              <a:picLocks noChangeAspect="1"/>
            </p:cNvPicPr>
            <p:nvPr/>
          </p:nvPicPr>
          <p:blipFill>
            <a:blip r:embed="rId5"/>
            <a:stretch>
              <a:fillRect/>
            </a:stretch>
          </p:blipFill>
          <p:spPr>
            <a:xfrm>
              <a:off x="838200" y="2206498"/>
              <a:ext cx="3315163" cy="1219370"/>
            </a:xfrm>
            <a:prstGeom prst="rect">
              <a:avLst/>
            </a:prstGeom>
          </p:spPr>
        </p:pic>
        <p:pic>
          <p:nvPicPr>
            <p:cNvPr id="7" name="Immagine 6">
              <a:extLst>
                <a:ext uri="{FF2B5EF4-FFF2-40B4-BE49-F238E27FC236}">
                  <a16:creationId xmlns:a16="http://schemas.microsoft.com/office/drawing/2014/main" id="{B8461C41-683D-43A2-B357-790F6DFCAD6F}"/>
                </a:ext>
              </a:extLst>
            </p:cNvPr>
            <p:cNvPicPr>
              <a:picLocks noChangeAspect="1"/>
            </p:cNvPicPr>
            <p:nvPr/>
          </p:nvPicPr>
          <p:blipFill>
            <a:blip r:embed="rId6"/>
            <a:stretch>
              <a:fillRect/>
            </a:stretch>
          </p:blipFill>
          <p:spPr>
            <a:xfrm>
              <a:off x="838200" y="3425868"/>
              <a:ext cx="1276528" cy="638264"/>
            </a:xfrm>
            <a:prstGeom prst="rect">
              <a:avLst/>
            </a:prstGeom>
          </p:spPr>
        </p:pic>
      </p:grpSp>
      <p:sp>
        <p:nvSpPr>
          <p:cNvPr id="10" name="Segnaposto contenuto 2">
            <a:extLst>
              <a:ext uri="{FF2B5EF4-FFF2-40B4-BE49-F238E27FC236}">
                <a16:creationId xmlns:a16="http://schemas.microsoft.com/office/drawing/2014/main" id="{0909311D-E4F6-2B56-6B8E-E35FB2FF05D0}"/>
              </a:ext>
            </a:extLst>
          </p:cNvPr>
          <p:cNvSpPr txBox="1">
            <a:spLocks/>
          </p:cNvSpPr>
          <p:nvPr/>
        </p:nvSpPr>
        <p:spPr>
          <a:xfrm>
            <a:off x="478568" y="4208724"/>
            <a:ext cx="4034426" cy="638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1800" dirty="0">
                <a:solidFill>
                  <a:srgbClr val="374151"/>
                </a:solidFill>
                <a:latin typeface="Helvetica" panose="020B0604020202020204" pitchFamily="34" charset="0"/>
                <a:cs typeface="Helvetica" panose="020B0604020202020204" pitchFamily="34" charset="0"/>
              </a:rPr>
              <a:t>Vincoli per il numero di droni in arrivo e in uscita dalla stazione di controllo</a:t>
            </a:r>
          </a:p>
          <a:p>
            <a:pPr marL="0" indent="0">
              <a:buFont typeface="Arial" panose="020B0604020202020204" pitchFamily="34" charset="0"/>
              <a:buNone/>
            </a:pPr>
            <a:endParaRPr lang="it-IT" sz="1800" dirty="0">
              <a:solidFill>
                <a:srgbClr val="374151"/>
              </a:solidFill>
              <a:latin typeface="Helvetica" panose="020B0604020202020204" pitchFamily="34" charset="0"/>
              <a:cs typeface="Helvetica" panose="020B0604020202020204" pitchFamily="34" charset="0"/>
            </a:endParaRPr>
          </a:p>
        </p:txBody>
      </p:sp>
      <p:pic>
        <p:nvPicPr>
          <p:cNvPr id="14" name="Immagine 13">
            <a:extLst>
              <a:ext uri="{FF2B5EF4-FFF2-40B4-BE49-F238E27FC236}">
                <a16:creationId xmlns:a16="http://schemas.microsoft.com/office/drawing/2014/main" id="{89135ED9-7A72-96CF-A0B8-2FEDD934CA34}"/>
              </a:ext>
            </a:extLst>
          </p:cNvPr>
          <p:cNvPicPr>
            <a:picLocks noChangeAspect="1"/>
          </p:cNvPicPr>
          <p:nvPr/>
        </p:nvPicPr>
        <p:blipFill>
          <a:blip r:embed="rId7"/>
          <a:stretch>
            <a:fillRect/>
          </a:stretch>
        </p:blipFill>
        <p:spPr>
          <a:xfrm>
            <a:off x="478568" y="4915793"/>
            <a:ext cx="1143160" cy="1190791"/>
          </a:xfrm>
          <a:prstGeom prst="rect">
            <a:avLst/>
          </a:prstGeom>
        </p:spPr>
      </p:pic>
      <p:sp>
        <p:nvSpPr>
          <p:cNvPr id="15" name="Segnaposto contenuto 2">
            <a:extLst>
              <a:ext uri="{FF2B5EF4-FFF2-40B4-BE49-F238E27FC236}">
                <a16:creationId xmlns:a16="http://schemas.microsoft.com/office/drawing/2014/main" id="{24CE5A7D-9D75-58A6-4542-338269864D54}"/>
              </a:ext>
            </a:extLst>
          </p:cNvPr>
          <p:cNvSpPr txBox="1">
            <a:spLocks/>
          </p:cNvSpPr>
          <p:nvPr/>
        </p:nvSpPr>
        <p:spPr>
          <a:xfrm>
            <a:off x="5364762" y="1745675"/>
            <a:ext cx="4034426" cy="424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1800" dirty="0">
                <a:solidFill>
                  <a:srgbClr val="374151"/>
                </a:solidFill>
                <a:latin typeface="Helvetica" panose="020B0604020202020204" pitchFamily="34" charset="0"/>
                <a:cs typeface="Helvetica" panose="020B0604020202020204" pitchFamily="34" charset="0"/>
              </a:rPr>
              <a:t>Vincoli per l’eliminazione dei sub-tour:</a:t>
            </a:r>
          </a:p>
        </p:txBody>
      </p:sp>
      <p:pic>
        <p:nvPicPr>
          <p:cNvPr id="19" name="Immagine 18">
            <a:extLst>
              <a:ext uri="{FF2B5EF4-FFF2-40B4-BE49-F238E27FC236}">
                <a16:creationId xmlns:a16="http://schemas.microsoft.com/office/drawing/2014/main" id="{7DF713D0-EA42-BA4A-EACD-EA173C1F4E18}"/>
              </a:ext>
            </a:extLst>
          </p:cNvPr>
          <p:cNvPicPr>
            <a:picLocks noChangeAspect="1"/>
          </p:cNvPicPr>
          <p:nvPr/>
        </p:nvPicPr>
        <p:blipFill>
          <a:blip r:embed="rId8"/>
          <a:stretch>
            <a:fillRect/>
          </a:stretch>
        </p:blipFill>
        <p:spPr>
          <a:xfrm>
            <a:off x="5364762" y="2091138"/>
            <a:ext cx="6373114" cy="390580"/>
          </a:xfrm>
          <a:prstGeom prst="rect">
            <a:avLst/>
          </a:prstGeom>
        </p:spPr>
      </p:pic>
      <p:pic>
        <p:nvPicPr>
          <p:cNvPr id="21" name="Immagine 20">
            <a:extLst>
              <a:ext uri="{FF2B5EF4-FFF2-40B4-BE49-F238E27FC236}">
                <a16:creationId xmlns:a16="http://schemas.microsoft.com/office/drawing/2014/main" id="{1A45F123-DFC4-5F3B-6013-7F4A022E794B}"/>
              </a:ext>
            </a:extLst>
          </p:cNvPr>
          <p:cNvPicPr>
            <a:picLocks noChangeAspect="1"/>
          </p:cNvPicPr>
          <p:nvPr/>
        </p:nvPicPr>
        <p:blipFill>
          <a:blip r:embed="rId9"/>
          <a:stretch>
            <a:fillRect/>
          </a:stretch>
        </p:blipFill>
        <p:spPr>
          <a:xfrm>
            <a:off x="5364762" y="2468516"/>
            <a:ext cx="6373114" cy="342948"/>
          </a:xfrm>
          <a:prstGeom prst="rect">
            <a:avLst/>
          </a:prstGeom>
        </p:spPr>
      </p:pic>
      <p:sp>
        <p:nvSpPr>
          <p:cNvPr id="22" name="Segnaposto contenuto 2">
            <a:extLst>
              <a:ext uri="{FF2B5EF4-FFF2-40B4-BE49-F238E27FC236}">
                <a16:creationId xmlns:a16="http://schemas.microsoft.com/office/drawing/2014/main" id="{6A81A051-0548-3687-3C89-AF37EDED995E}"/>
              </a:ext>
            </a:extLst>
          </p:cNvPr>
          <p:cNvSpPr txBox="1">
            <a:spLocks/>
          </p:cNvSpPr>
          <p:nvPr/>
        </p:nvSpPr>
        <p:spPr>
          <a:xfrm>
            <a:off x="5364762" y="3541303"/>
            <a:ext cx="4034426" cy="424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1800" dirty="0">
                <a:solidFill>
                  <a:srgbClr val="374151"/>
                </a:solidFill>
                <a:latin typeface="Helvetica" panose="020B0604020202020204" pitchFamily="34" charset="0"/>
                <a:cs typeface="Helvetica" panose="020B0604020202020204" pitchFamily="34" charset="0"/>
              </a:rPr>
              <a:t>Limiti superiori</a:t>
            </a:r>
          </a:p>
        </p:txBody>
      </p:sp>
      <p:pic>
        <p:nvPicPr>
          <p:cNvPr id="24" name="Immagine 23">
            <a:extLst>
              <a:ext uri="{FF2B5EF4-FFF2-40B4-BE49-F238E27FC236}">
                <a16:creationId xmlns:a16="http://schemas.microsoft.com/office/drawing/2014/main" id="{CEC2CB49-1A67-582B-3E9C-CBFBC293588B}"/>
              </a:ext>
            </a:extLst>
          </p:cNvPr>
          <p:cNvPicPr>
            <a:picLocks noChangeAspect="1"/>
          </p:cNvPicPr>
          <p:nvPr/>
        </p:nvPicPr>
        <p:blipFill>
          <a:blip r:embed="rId10"/>
          <a:stretch>
            <a:fillRect/>
          </a:stretch>
        </p:blipFill>
        <p:spPr>
          <a:xfrm>
            <a:off x="5364762" y="3890697"/>
            <a:ext cx="2581635" cy="466790"/>
          </a:xfrm>
          <a:prstGeom prst="rect">
            <a:avLst/>
          </a:prstGeom>
        </p:spPr>
      </p:pic>
      <p:pic>
        <p:nvPicPr>
          <p:cNvPr id="26" name="Immagine 25">
            <a:extLst>
              <a:ext uri="{FF2B5EF4-FFF2-40B4-BE49-F238E27FC236}">
                <a16:creationId xmlns:a16="http://schemas.microsoft.com/office/drawing/2014/main" id="{CEE65629-1DB8-A56E-EA14-886B8159989F}"/>
              </a:ext>
            </a:extLst>
          </p:cNvPr>
          <p:cNvPicPr>
            <a:picLocks noChangeAspect="1"/>
          </p:cNvPicPr>
          <p:nvPr/>
        </p:nvPicPr>
        <p:blipFill>
          <a:blip r:embed="rId11"/>
          <a:stretch>
            <a:fillRect/>
          </a:stretch>
        </p:blipFill>
        <p:spPr>
          <a:xfrm>
            <a:off x="5414866" y="4346895"/>
            <a:ext cx="2581635" cy="371527"/>
          </a:xfrm>
          <a:prstGeom prst="rect">
            <a:avLst/>
          </a:prstGeom>
        </p:spPr>
      </p:pic>
      <p:pic>
        <p:nvPicPr>
          <p:cNvPr id="28" name="Immagine 27">
            <a:extLst>
              <a:ext uri="{FF2B5EF4-FFF2-40B4-BE49-F238E27FC236}">
                <a16:creationId xmlns:a16="http://schemas.microsoft.com/office/drawing/2014/main" id="{F4767BFD-87AB-F34F-4B31-F5C64BFE7F90}"/>
              </a:ext>
            </a:extLst>
          </p:cNvPr>
          <p:cNvPicPr>
            <a:picLocks noChangeAspect="1"/>
          </p:cNvPicPr>
          <p:nvPr/>
        </p:nvPicPr>
        <p:blipFill>
          <a:blip r:embed="rId12"/>
          <a:stretch>
            <a:fillRect/>
          </a:stretch>
        </p:blipFill>
        <p:spPr>
          <a:xfrm>
            <a:off x="5502548" y="4777745"/>
            <a:ext cx="714475" cy="362001"/>
          </a:xfrm>
          <a:prstGeom prst="rect">
            <a:avLst/>
          </a:prstGeom>
        </p:spPr>
      </p:pic>
      <p:sp>
        <p:nvSpPr>
          <p:cNvPr id="32" name="Segnaposto contenuto 2">
            <a:extLst>
              <a:ext uri="{FF2B5EF4-FFF2-40B4-BE49-F238E27FC236}">
                <a16:creationId xmlns:a16="http://schemas.microsoft.com/office/drawing/2014/main" id="{9F1CCEBA-ED49-D342-DF00-5CAF99B53F0A}"/>
              </a:ext>
            </a:extLst>
          </p:cNvPr>
          <p:cNvSpPr txBox="1">
            <a:spLocks/>
          </p:cNvSpPr>
          <p:nvPr/>
        </p:nvSpPr>
        <p:spPr>
          <a:xfrm>
            <a:off x="5366850" y="5121667"/>
            <a:ext cx="4034426" cy="424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1800" dirty="0">
                <a:solidFill>
                  <a:srgbClr val="374151"/>
                </a:solidFill>
                <a:latin typeface="Helvetica" panose="020B0604020202020204" pitchFamily="34" charset="0"/>
                <a:cs typeface="Helvetica" panose="020B0604020202020204" pitchFamily="34" charset="0"/>
              </a:rPr>
              <a:t>Limiti inferiori</a:t>
            </a:r>
          </a:p>
        </p:txBody>
      </p:sp>
      <p:pic>
        <p:nvPicPr>
          <p:cNvPr id="34" name="Immagine 33">
            <a:extLst>
              <a:ext uri="{FF2B5EF4-FFF2-40B4-BE49-F238E27FC236}">
                <a16:creationId xmlns:a16="http://schemas.microsoft.com/office/drawing/2014/main" id="{E899C62C-84D5-5A70-A9AF-C66FB29D2069}"/>
              </a:ext>
            </a:extLst>
          </p:cNvPr>
          <p:cNvPicPr>
            <a:picLocks noChangeAspect="1"/>
          </p:cNvPicPr>
          <p:nvPr/>
        </p:nvPicPr>
        <p:blipFill>
          <a:blip r:embed="rId13"/>
          <a:stretch>
            <a:fillRect/>
          </a:stretch>
        </p:blipFill>
        <p:spPr>
          <a:xfrm>
            <a:off x="5439918" y="5490678"/>
            <a:ext cx="714475" cy="390580"/>
          </a:xfrm>
          <a:prstGeom prst="rect">
            <a:avLst/>
          </a:prstGeom>
        </p:spPr>
      </p:pic>
      <p:sp>
        <p:nvSpPr>
          <p:cNvPr id="35" name="Segnaposto contenuto 2">
            <a:extLst>
              <a:ext uri="{FF2B5EF4-FFF2-40B4-BE49-F238E27FC236}">
                <a16:creationId xmlns:a16="http://schemas.microsoft.com/office/drawing/2014/main" id="{5CC59FA5-D738-E11E-BA4F-AB41D4AEB9E2}"/>
              </a:ext>
            </a:extLst>
          </p:cNvPr>
          <p:cNvSpPr txBox="1">
            <a:spLocks/>
          </p:cNvSpPr>
          <p:nvPr/>
        </p:nvSpPr>
        <p:spPr>
          <a:xfrm>
            <a:off x="5364762" y="2852407"/>
            <a:ext cx="4034426" cy="4247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1800" dirty="0">
                <a:solidFill>
                  <a:srgbClr val="374151"/>
                </a:solidFill>
                <a:latin typeface="Helvetica" panose="020B0604020202020204" pitchFamily="34" charset="0"/>
                <a:cs typeface="Helvetica" panose="020B0604020202020204" pitchFamily="34" charset="0"/>
              </a:rPr>
              <a:t>Vincoli al periodo di rivisita</a:t>
            </a:r>
          </a:p>
        </p:txBody>
      </p:sp>
      <p:pic>
        <p:nvPicPr>
          <p:cNvPr id="37" name="Immagine 36">
            <a:extLst>
              <a:ext uri="{FF2B5EF4-FFF2-40B4-BE49-F238E27FC236}">
                <a16:creationId xmlns:a16="http://schemas.microsoft.com/office/drawing/2014/main" id="{9B0CFD76-FD04-7716-AA03-46E14648DBF0}"/>
              </a:ext>
            </a:extLst>
          </p:cNvPr>
          <p:cNvPicPr>
            <a:picLocks noChangeAspect="1"/>
          </p:cNvPicPr>
          <p:nvPr/>
        </p:nvPicPr>
        <p:blipFill>
          <a:blip r:embed="rId14"/>
          <a:stretch>
            <a:fillRect/>
          </a:stretch>
        </p:blipFill>
        <p:spPr>
          <a:xfrm>
            <a:off x="5286260" y="3131671"/>
            <a:ext cx="2838846" cy="409632"/>
          </a:xfrm>
          <a:prstGeom prst="rect">
            <a:avLst/>
          </a:prstGeom>
        </p:spPr>
      </p:pic>
      <p:pic>
        <p:nvPicPr>
          <p:cNvPr id="39" name="Immagine 38">
            <a:extLst>
              <a:ext uri="{FF2B5EF4-FFF2-40B4-BE49-F238E27FC236}">
                <a16:creationId xmlns:a16="http://schemas.microsoft.com/office/drawing/2014/main" id="{0D15EF74-5E86-F3CF-8801-D9BA9B09B2E4}"/>
              </a:ext>
            </a:extLst>
          </p:cNvPr>
          <p:cNvPicPr>
            <a:picLocks noChangeAspect="1"/>
          </p:cNvPicPr>
          <p:nvPr/>
        </p:nvPicPr>
        <p:blipFill rotWithShape="1">
          <a:blip r:embed="rId15"/>
          <a:srcRect r="4731" b="108"/>
          <a:stretch/>
        </p:blipFill>
        <p:spPr>
          <a:xfrm>
            <a:off x="2108002" y="6211878"/>
            <a:ext cx="6461799" cy="342575"/>
          </a:xfrm>
          <a:prstGeom prst="rect">
            <a:avLst/>
          </a:prstGeom>
        </p:spPr>
      </p:pic>
    </p:spTree>
    <p:extLst>
      <p:ext uri="{BB962C8B-B14F-4D97-AF65-F5344CB8AC3E}">
        <p14:creationId xmlns:p14="http://schemas.microsoft.com/office/powerpoint/2010/main" val="1150993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Funzione multi-obiettivo</a:t>
            </a:r>
          </a:p>
        </p:txBody>
      </p:sp>
      <p:pic>
        <p:nvPicPr>
          <p:cNvPr id="11" name="Segnaposto contenuto 10">
            <a:extLst>
              <a:ext uri="{FF2B5EF4-FFF2-40B4-BE49-F238E27FC236}">
                <a16:creationId xmlns:a16="http://schemas.microsoft.com/office/drawing/2014/main" id="{800A9015-84F4-3288-68F0-EBC242401096}"/>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rcRect/>
          <a:stretch/>
        </p:blipFill>
        <p:spPr>
          <a:xfrm>
            <a:off x="6728563" y="1565427"/>
            <a:ext cx="5181600" cy="3886200"/>
          </a:xfrm>
        </p:spPr>
      </p:pic>
      <p:sp>
        <p:nvSpPr>
          <p:cNvPr id="12" name="CasellaDiTesto 11">
            <a:extLst>
              <a:ext uri="{FF2B5EF4-FFF2-40B4-BE49-F238E27FC236}">
                <a16:creationId xmlns:a16="http://schemas.microsoft.com/office/drawing/2014/main" id="{048462CA-39AE-887F-B93A-56B9A2CFA598}"/>
              </a:ext>
            </a:extLst>
          </p:cNvPr>
          <p:cNvSpPr txBox="1"/>
          <p:nvPr/>
        </p:nvSpPr>
        <p:spPr>
          <a:xfrm>
            <a:off x="831937" y="1565427"/>
            <a:ext cx="5614790" cy="175432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it-IT" b="0" i="0" dirty="0">
                <a:solidFill>
                  <a:srgbClr val="374151"/>
                </a:solidFill>
                <a:effectLst/>
                <a:latin typeface="Helvetica" panose="020B0604020202020204" pitchFamily="34" charset="0"/>
                <a:cs typeface="Helvetica" panose="020B0604020202020204" pitchFamily="34" charset="0"/>
              </a:rPr>
              <a:t>Simultanea riduzione dei costi di acquisto </a:t>
            </a:r>
            <a:r>
              <a:rPr lang="it-IT" dirty="0">
                <a:solidFill>
                  <a:srgbClr val="374151"/>
                </a:solidFill>
                <a:latin typeface="Helvetica" panose="020B0604020202020204" pitchFamily="34" charset="0"/>
                <a:cs typeface="Helvetica" panose="020B0604020202020204" pitchFamily="34" charset="0"/>
              </a:rPr>
              <a:t>dei droni </a:t>
            </a:r>
            <a:r>
              <a:rPr lang="it-IT" b="0" i="0" dirty="0">
                <a:solidFill>
                  <a:srgbClr val="374151"/>
                </a:solidFill>
                <a:effectLst/>
                <a:latin typeface="Helvetica" panose="020B0604020202020204" pitchFamily="34" charset="0"/>
                <a:cs typeface="Helvetica" panose="020B0604020202020204" pitchFamily="34" charset="0"/>
              </a:rPr>
              <a:t>e della somma pesata dei periodi di rivisita.</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Frontiera di Pareto  è definita in un piano con assi rappresentanti gli obiettivi del modello</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Utilizzo del solver </a:t>
            </a:r>
            <a:r>
              <a:rPr lang="it-IT" dirty="0" err="1">
                <a:solidFill>
                  <a:srgbClr val="374151"/>
                </a:solidFill>
                <a:latin typeface="Helvetica" panose="020B0604020202020204" pitchFamily="34" charset="0"/>
                <a:cs typeface="Helvetica" panose="020B0604020202020204" pitchFamily="34" charset="0"/>
              </a:rPr>
              <a:t>gamultiobj</a:t>
            </a:r>
            <a:r>
              <a:rPr lang="it-IT" dirty="0">
                <a:solidFill>
                  <a:srgbClr val="374151"/>
                </a:solidFill>
                <a:latin typeface="Helvetica" panose="020B0604020202020204" pitchFamily="34" charset="0"/>
                <a:cs typeface="Helvetica" panose="020B0604020202020204" pitchFamily="34" charset="0"/>
              </a:rPr>
              <a:t> di MATLAB per ottenere la frontiera di Pareto</a:t>
            </a:r>
          </a:p>
        </p:txBody>
      </p:sp>
      <p:sp>
        <p:nvSpPr>
          <p:cNvPr id="13" name="CasellaDiTesto 12">
            <a:extLst>
              <a:ext uri="{FF2B5EF4-FFF2-40B4-BE49-F238E27FC236}">
                <a16:creationId xmlns:a16="http://schemas.microsoft.com/office/drawing/2014/main" id="{EA64FD6D-4118-ACD7-03B4-CECA5E271A75}"/>
              </a:ext>
            </a:extLst>
          </p:cNvPr>
          <p:cNvSpPr txBox="1"/>
          <p:nvPr/>
        </p:nvSpPr>
        <p:spPr>
          <a:xfrm>
            <a:off x="831936" y="4897046"/>
            <a:ext cx="5614790"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Frontiera di Pareto convessa</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Semplificazione della formulazione multi-obiettivo</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Funzione Obiettivo Aggregata (AOF)</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Combinazione lineare degli obiettivi</a:t>
            </a:r>
          </a:p>
        </p:txBody>
      </p:sp>
      <p:pic>
        <p:nvPicPr>
          <p:cNvPr id="15" name="Immagine 14">
            <a:extLst>
              <a:ext uri="{FF2B5EF4-FFF2-40B4-BE49-F238E27FC236}">
                <a16:creationId xmlns:a16="http://schemas.microsoft.com/office/drawing/2014/main" id="{7E594CB8-278C-823F-E68C-2F5A5F321A13}"/>
              </a:ext>
            </a:extLst>
          </p:cNvPr>
          <p:cNvPicPr>
            <a:picLocks noChangeAspect="1"/>
          </p:cNvPicPr>
          <p:nvPr/>
        </p:nvPicPr>
        <p:blipFill rotWithShape="1">
          <a:blip r:embed="rId6"/>
          <a:srcRect b="21360"/>
          <a:stretch/>
        </p:blipFill>
        <p:spPr>
          <a:xfrm>
            <a:off x="6728563" y="5641362"/>
            <a:ext cx="5300029" cy="684282"/>
          </a:xfrm>
          <a:prstGeom prst="rect">
            <a:avLst/>
          </a:prstGeom>
        </p:spPr>
      </p:pic>
    </p:spTree>
    <p:extLst>
      <p:ext uri="{BB962C8B-B14F-4D97-AF65-F5344CB8AC3E}">
        <p14:creationId xmlns:p14="http://schemas.microsoft.com/office/powerpoint/2010/main" val="208311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Istanza del problema di ottimizzazione</a:t>
            </a:r>
          </a:p>
        </p:txBody>
      </p:sp>
      <mc:AlternateContent xmlns:mc="http://schemas.openxmlformats.org/markup-compatibility/2006">
        <mc:Choice xmlns:a14="http://schemas.microsoft.com/office/drawing/2010/main" Requires="a14">
          <p:sp>
            <p:nvSpPr>
              <p:cNvPr id="4" name="Segnaposto contenuto 3">
                <a:extLst>
                  <a:ext uri="{FF2B5EF4-FFF2-40B4-BE49-F238E27FC236}">
                    <a16:creationId xmlns:a16="http://schemas.microsoft.com/office/drawing/2014/main" id="{BD4C04D6-31B6-02AA-CC78-AFAE86B26833}"/>
                  </a:ext>
                </a:extLst>
              </p:cNvPr>
              <p:cNvSpPr>
                <a:spLocks noGrp="1"/>
              </p:cNvSpPr>
              <p:nvPr>
                <p:ph sz="half" idx="1"/>
              </p:nvPr>
            </p:nvSpPr>
            <p:spPr>
              <a:xfrm>
                <a:off x="838200" y="1690688"/>
                <a:ext cx="5181600" cy="3019098"/>
              </a:xfrm>
            </p:spPr>
            <p:txBody>
              <a:bodyPr>
                <a:normAutofit/>
              </a:bodyPr>
              <a:lstStyle/>
              <a:p>
                <a:r>
                  <a:rPr lang="it-IT" sz="1800" dirty="0">
                    <a:latin typeface="Helvetica" panose="020B0604020202020204" pitchFamily="34" charset="0"/>
                    <a:cs typeface="Helvetica" panose="020B0604020202020204" pitchFamily="34" charset="0"/>
                  </a:rPr>
                  <a:t>Insieme </a:t>
                </a:r>
                <a14:m>
                  <m:oMath xmlns:m="http://schemas.openxmlformats.org/officeDocument/2006/math">
                    <m:r>
                      <a:rPr lang="it-IT" sz="1800" b="0" i="1" smtClean="0">
                        <a:latin typeface="Cambria Math" panose="02040503050406030204" pitchFamily="18" charset="0"/>
                        <a:cs typeface="Helvetica" panose="020B0604020202020204" pitchFamily="34" charset="0"/>
                      </a:rPr>
                      <m:t>𝑇</m:t>
                    </m:r>
                  </m:oMath>
                </a14:m>
                <a:r>
                  <a:rPr lang="it-IT" sz="1800" dirty="0">
                    <a:latin typeface="Helvetica" panose="020B0604020202020204" pitchFamily="34" charset="0"/>
                    <a:cs typeface="Helvetica" panose="020B0604020202020204" pitchFamily="34" charset="0"/>
                  </a:rPr>
                  <a:t> costituito dagli 8 task da visitare:</a:t>
                </a:r>
                <a:br>
                  <a:rPr lang="it-IT" sz="1800" dirty="0">
                    <a:latin typeface="Helvetica" panose="020B0604020202020204" pitchFamily="34" charset="0"/>
                    <a:cs typeface="Helvetica" panose="020B0604020202020204" pitchFamily="34" charset="0"/>
                  </a:rPr>
                </a:br>
                <a14:m>
                  <m:oMath xmlns:m="http://schemas.openxmlformats.org/officeDocument/2006/math">
                    <m:r>
                      <a:rPr lang="it-IT" sz="1800" b="0" i="1" smtClean="0">
                        <a:latin typeface="Cambria Math" panose="02040503050406030204" pitchFamily="18" charset="0"/>
                        <a:cs typeface="Helvetica" panose="020B0604020202020204" pitchFamily="34" charset="0"/>
                      </a:rPr>
                      <m:t>𝑇</m:t>
                    </m:r>
                    <m:r>
                      <a:rPr lang="it-IT" sz="1800" b="0" i="1" smtClean="0">
                        <a:latin typeface="Cambria Math" panose="02040503050406030204" pitchFamily="18" charset="0"/>
                        <a:cs typeface="Helvetica" panose="020B0604020202020204" pitchFamily="34" charset="0"/>
                      </a:rPr>
                      <m:t>=</m:t>
                    </m:r>
                    <m:d>
                      <m:dPr>
                        <m:begChr m:val="{"/>
                        <m:endChr m:val="}"/>
                        <m:ctrlPr>
                          <a:rPr lang="it-IT" sz="1800" b="0" i="1" smtClean="0">
                            <a:latin typeface="Cambria Math" panose="02040503050406030204" pitchFamily="18" charset="0"/>
                            <a:cs typeface="Helvetica" panose="020B0604020202020204" pitchFamily="34" charset="0"/>
                          </a:rPr>
                        </m:ctrlPr>
                      </m:dPr>
                      <m:e>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1</m:t>
                            </m:r>
                          </m:sub>
                        </m:sSub>
                        <m:r>
                          <a:rPr lang="it-IT" sz="1800" b="0" i="1" smtClean="0">
                            <a:latin typeface="Cambria Math" panose="02040503050406030204" pitchFamily="18" charset="0"/>
                            <a:cs typeface="Helvetica" panose="020B0604020202020204" pitchFamily="34" charset="0"/>
                          </a:rPr>
                          <m:t>,</m:t>
                        </m:r>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2</m:t>
                            </m:r>
                          </m:sub>
                        </m:sSub>
                        <m:r>
                          <a:rPr lang="it-IT" sz="1800" b="0" i="1" smtClean="0">
                            <a:latin typeface="Cambria Math" panose="02040503050406030204" pitchFamily="18" charset="0"/>
                            <a:cs typeface="Helvetica" panose="020B0604020202020204" pitchFamily="34" charset="0"/>
                          </a:rPr>
                          <m:t>,</m:t>
                        </m:r>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3</m:t>
                            </m:r>
                          </m:sub>
                        </m:sSub>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4</m:t>
                            </m:r>
                          </m:sub>
                        </m:sSub>
                        <m:r>
                          <a:rPr lang="it-IT" sz="1800" b="0" i="1" smtClean="0">
                            <a:latin typeface="Cambria Math" panose="02040503050406030204" pitchFamily="18" charset="0"/>
                            <a:cs typeface="Helvetica" panose="020B0604020202020204" pitchFamily="34" charset="0"/>
                          </a:rPr>
                          <m:t>,</m:t>
                        </m:r>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5</m:t>
                            </m:r>
                          </m:sub>
                        </m:sSub>
                        <m:r>
                          <a:rPr lang="it-IT" sz="1800" b="0" i="1" smtClean="0">
                            <a:latin typeface="Cambria Math" panose="02040503050406030204" pitchFamily="18" charset="0"/>
                            <a:cs typeface="Helvetica" panose="020B0604020202020204" pitchFamily="34" charset="0"/>
                          </a:rPr>
                          <m:t>,</m:t>
                        </m:r>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6</m:t>
                            </m:r>
                          </m:sub>
                        </m:sSub>
                        <m:r>
                          <a:rPr lang="it-IT" sz="1800" b="0" i="1" smtClean="0">
                            <a:latin typeface="Cambria Math" panose="02040503050406030204" pitchFamily="18" charset="0"/>
                            <a:cs typeface="Helvetica" panose="020B0604020202020204" pitchFamily="34" charset="0"/>
                          </a:rPr>
                          <m:t>,</m:t>
                        </m:r>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7</m:t>
                            </m:r>
                          </m:sub>
                        </m:sSub>
                        <m:r>
                          <a:rPr lang="it-IT" sz="1800" b="0" i="1" smtClean="0">
                            <a:latin typeface="Cambria Math" panose="02040503050406030204" pitchFamily="18" charset="0"/>
                            <a:cs typeface="Helvetica" panose="020B0604020202020204" pitchFamily="34" charset="0"/>
                          </a:rPr>
                          <m:t>,</m:t>
                        </m:r>
                        <m:sSub>
                          <m:sSubPr>
                            <m:ctrlPr>
                              <a:rPr lang="it-IT" sz="1800" b="0" i="1" smtClean="0">
                                <a:latin typeface="Cambria Math" panose="02040503050406030204" pitchFamily="18" charset="0"/>
                                <a:cs typeface="Helvetica" panose="020B0604020202020204" pitchFamily="34" charset="0"/>
                              </a:rPr>
                            </m:ctrlPr>
                          </m:sSubPr>
                          <m:e>
                            <m:r>
                              <a:rPr lang="it-IT" sz="1800" b="0" i="1" smtClean="0">
                                <a:latin typeface="Cambria Math" panose="02040503050406030204" pitchFamily="18" charset="0"/>
                                <a:cs typeface="Helvetica" panose="020B0604020202020204" pitchFamily="34" charset="0"/>
                              </a:rPr>
                              <m:t>𝑡</m:t>
                            </m:r>
                          </m:e>
                          <m:sub>
                            <m:r>
                              <a:rPr lang="it-IT" sz="1800" b="0" i="1" smtClean="0">
                                <a:latin typeface="Cambria Math" panose="02040503050406030204" pitchFamily="18" charset="0"/>
                                <a:cs typeface="Helvetica" panose="020B0604020202020204" pitchFamily="34" charset="0"/>
                              </a:rPr>
                              <m:t>8</m:t>
                            </m:r>
                          </m:sub>
                        </m:sSub>
                        <m:r>
                          <a:rPr lang="it-IT" sz="1800" b="0" i="1" smtClean="0">
                            <a:latin typeface="Cambria Math" panose="02040503050406030204" pitchFamily="18" charset="0"/>
                            <a:cs typeface="Helvetica" panose="020B0604020202020204" pitchFamily="34" charset="0"/>
                          </a:rPr>
                          <m:t> </m:t>
                        </m:r>
                      </m:e>
                    </m:d>
                  </m:oMath>
                </a14:m>
                <a:endParaRPr lang="it-IT" sz="1800" b="0" dirty="0">
                  <a:latin typeface="Helvetica" panose="020B0604020202020204" pitchFamily="34" charset="0"/>
                  <a:cs typeface="Helvetica" panose="020B0604020202020204" pitchFamily="34" charset="0"/>
                </a:endParaRPr>
              </a:p>
              <a:p>
                <a:r>
                  <a:rPr lang="it-IT" sz="1800" b="0" dirty="0">
                    <a:latin typeface="Helvetica" panose="020B0604020202020204" pitchFamily="34" charset="0"/>
                    <a:cs typeface="Helvetica" panose="020B0604020202020204" pitchFamily="34" charset="0"/>
                  </a:rPr>
                  <a:t> I task 1, 4 e 7 sono stati identificati come i </a:t>
                </a:r>
                <a:r>
                  <a:rPr lang="it-IT" sz="1800" b="0" dirty="0" err="1">
                    <a:latin typeface="Helvetica" panose="020B0604020202020204" pitchFamily="34" charset="0"/>
                    <a:cs typeface="Helvetica" panose="020B0604020202020204" pitchFamily="34" charset="0"/>
                  </a:rPr>
                  <a:t>pi`u</a:t>
                </a:r>
                <a:r>
                  <a:rPr lang="it-IT" sz="1800" b="0" dirty="0">
                    <a:latin typeface="Helvetica" panose="020B0604020202020204" pitchFamily="34" charset="0"/>
                    <a:cs typeface="Helvetica" panose="020B0604020202020204" pitchFamily="34" charset="0"/>
                  </a:rPr>
                  <a:t> suscettibili a variazioni</a:t>
                </a:r>
              </a:p>
              <a:p>
                <a:r>
                  <a:rPr lang="it-IT" sz="1800" dirty="0">
                    <a:latin typeface="Helvetica" panose="020B0604020202020204" pitchFamily="34" charset="0"/>
                    <a:cs typeface="Helvetica" panose="020B0604020202020204" pitchFamily="34" charset="0"/>
                  </a:rPr>
                  <a:t>Insieme </a:t>
                </a:r>
                <a14:m>
                  <m:oMath xmlns:m="http://schemas.openxmlformats.org/officeDocument/2006/math">
                    <m:r>
                      <a:rPr lang="it-IT" sz="1800" b="0" i="1" smtClean="0">
                        <a:latin typeface="Cambria Math" panose="02040503050406030204" pitchFamily="18" charset="0"/>
                        <a:cs typeface="Helvetica" panose="020B0604020202020204" pitchFamily="34" charset="0"/>
                      </a:rPr>
                      <m:t>𝑉</m:t>
                    </m:r>
                  </m:oMath>
                </a14:m>
                <a:r>
                  <a:rPr lang="it-IT" sz="1800" dirty="0">
                    <a:latin typeface="Helvetica" panose="020B0604020202020204" pitchFamily="34" charset="0"/>
                    <a:cs typeface="Helvetica" panose="020B0604020202020204" pitchFamily="34" charset="0"/>
                  </a:rPr>
                  <a:t> dei nodi con cardinalità </a:t>
                </a:r>
                <a14:m>
                  <m:oMath xmlns:m="http://schemas.openxmlformats.org/officeDocument/2006/math">
                    <m:d>
                      <m:dPr>
                        <m:begChr m:val="|"/>
                        <m:endChr m:val="|"/>
                        <m:ctrlPr>
                          <a:rPr lang="it-IT" sz="1800" b="0" i="1" smtClean="0">
                            <a:latin typeface="Cambria Math" panose="02040503050406030204" pitchFamily="18" charset="0"/>
                            <a:cs typeface="Helvetica" panose="020B0604020202020204" pitchFamily="34" charset="0"/>
                          </a:rPr>
                        </m:ctrlPr>
                      </m:dPr>
                      <m:e>
                        <m:r>
                          <a:rPr lang="it-IT" sz="1800" b="0" i="1" smtClean="0">
                            <a:latin typeface="Cambria Math" panose="02040503050406030204" pitchFamily="18" charset="0"/>
                            <a:cs typeface="Helvetica" panose="020B0604020202020204" pitchFamily="34" charset="0"/>
                          </a:rPr>
                          <m:t>𝑉</m:t>
                        </m:r>
                      </m:e>
                    </m:d>
                    <m:r>
                      <a:rPr lang="it-IT" sz="1800" b="0" i="1" smtClean="0">
                        <a:latin typeface="Cambria Math" panose="02040503050406030204" pitchFamily="18" charset="0"/>
                        <a:cs typeface="Helvetica" panose="020B0604020202020204" pitchFamily="34" charset="0"/>
                      </a:rPr>
                      <m:t>=9</m:t>
                    </m:r>
                  </m:oMath>
                </a14:m>
                <a:endParaRPr lang="it-IT" sz="1800" b="0" dirty="0">
                  <a:latin typeface="Helvetica" panose="020B0604020202020204" pitchFamily="34" charset="0"/>
                  <a:cs typeface="Helvetica" panose="020B0604020202020204" pitchFamily="34" charset="0"/>
                </a:endParaRPr>
              </a:p>
              <a:p>
                <a:r>
                  <a:rPr lang="it-IT" sz="1800" dirty="0">
                    <a:latin typeface="Helvetica" panose="020B0604020202020204" pitchFamily="34" charset="0"/>
                    <a:cs typeface="Helvetica" panose="020B0604020202020204" pitchFamily="34" charset="0"/>
                  </a:rPr>
                  <a:t>Insieme </a:t>
                </a:r>
                <a14:m>
                  <m:oMath xmlns:m="http://schemas.openxmlformats.org/officeDocument/2006/math">
                    <m:r>
                      <a:rPr lang="it-IT" sz="1800" b="0" i="1" smtClean="0">
                        <a:latin typeface="Cambria Math" panose="02040503050406030204" pitchFamily="18" charset="0"/>
                        <a:cs typeface="Helvetica" panose="020B0604020202020204" pitchFamily="34" charset="0"/>
                      </a:rPr>
                      <m:t>𝐸</m:t>
                    </m:r>
                  </m:oMath>
                </a14:m>
                <a:r>
                  <a:rPr lang="it-IT" sz="1800" dirty="0">
                    <a:latin typeface="Helvetica" panose="020B0604020202020204" pitchFamily="34" charset="0"/>
                    <a:cs typeface="Helvetica" panose="020B0604020202020204" pitchFamily="34" charset="0"/>
                  </a:rPr>
                  <a:t> degli archi con cardinalità </a:t>
                </a:r>
                <a14:m>
                  <m:oMath xmlns:m="http://schemas.openxmlformats.org/officeDocument/2006/math">
                    <m:d>
                      <m:dPr>
                        <m:begChr m:val="|"/>
                        <m:endChr m:val="|"/>
                        <m:ctrlPr>
                          <a:rPr lang="it-IT" sz="1800" i="1">
                            <a:latin typeface="Cambria Math" panose="02040503050406030204" pitchFamily="18" charset="0"/>
                            <a:cs typeface="Helvetica" panose="020B0604020202020204" pitchFamily="34" charset="0"/>
                          </a:rPr>
                        </m:ctrlPr>
                      </m:dPr>
                      <m:e>
                        <m:r>
                          <a:rPr lang="it-IT" sz="1800" b="0" i="1" smtClean="0">
                            <a:latin typeface="Cambria Math" panose="02040503050406030204" pitchFamily="18" charset="0"/>
                            <a:cs typeface="Helvetica" panose="020B0604020202020204" pitchFamily="34" charset="0"/>
                          </a:rPr>
                          <m:t>𝐸</m:t>
                        </m:r>
                      </m:e>
                    </m:d>
                    <m:r>
                      <a:rPr lang="it-IT" sz="1800" i="1">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81</m:t>
                    </m:r>
                  </m:oMath>
                </a14:m>
                <a:endParaRPr lang="it-IT" sz="1800" b="0" dirty="0">
                  <a:latin typeface="Helvetica" panose="020B0604020202020204" pitchFamily="34" charset="0"/>
                  <a:cs typeface="Helvetica" panose="020B0604020202020204" pitchFamily="34" charset="0"/>
                </a:endParaRPr>
              </a:p>
              <a:p>
                <a:r>
                  <a:rPr lang="it-IT" sz="1800" dirty="0">
                    <a:latin typeface="Helvetica" panose="020B0604020202020204" pitchFamily="34" charset="0"/>
                    <a:cs typeface="Helvetica" panose="020B0604020202020204" pitchFamily="34" charset="0"/>
                  </a:rPr>
                  <a:t>Costo unitario di acquisto dei droni </a:t>
                </a:r>
                <a14:m>
                  <m:oMath xmlns:m="http://schemas.openxmlformats.org/officeDocument/2006/math">
                    <m:r>
                      <m:rPr>
                        <m:sty m:val="p"/>
                      </m:rPr>
                      <a:rPr lang="it-IT" sz="1800" b="0" i="0" smtClean="0">
                        <a:latin typeface="Cambria Math" panose="02040503050406030204" pitchFamily="18" charset="0"/>
                        <a:cs typeface="Helvetica" panose="020B0604020202020204" pitchFamily="34" charset="0"/>
                      </a:rPr>
                      <m:t>p</m:t>
                    </m:r>
                    <m:r>
                      <a:rPr lang="it-IT" sz="1800" b="0" i="1" smtClean="0">
                        <a:latin typeface="Cambria Math" panose="02040503050406030204" pitchFamily="18" charset="0"/>
                        <a:cs typeface="Helvetica" panose="020B0604020202020204" pitchFamily="34" charset="0"/>
                      </a:rPr>
                      <m:t>=</m:t>
                    </m:r>
                    <m:r>
                      <a:rPr lang="it-IT" sz="1800" b="0" i="1" smtClean="0">
                        <a:latin typeface="Cambria Math" panose="02040503050406030204" pitchFamily="18" charset="0"/>
                        <a:cs typeface="Helvetica" panose="020B0604020202020204" pitchFamily="34" charset="0"/>
                      </a:rPr>
                      <m:t>1000</m:t>
                    </m:r>
                  </m:oMath>
                </a14:m>
                <a:endParaRPr lang="it-IT" sz="1800" dirty="0">
                  <a:latin typeface="Helvetica" panose="020B0604020202020204" pitchFamily="34" charset="0"/>
                  <a:cs typeface="Helvetica" panose="020B0604020202020204" pitchFamily="34" charset="0"/>
                </a:endParaRPr>
              </a:p>
              <a:p>
                <a:r>
                  <a:rPr lang="it-IT" sz="1800" dirty="0">
                    <a:latin typeface="Helvetica" panose="020B0604020202020204" pitchFamily="34" charset="0"/>
                    <a:cs typeface="Helvetica" panose="020B0604020202020204" pitchFamily="34" charset="0"/>
                  </a:rPr>
                  <a:t>Tempo di viaggio e periodo di rivisita espresso in ore</a:t>
                </a:r>
              </a:p>
              <a:p>
                <a:endParaRPr lang="it-IT" sz="1800" dirty="0">
                  <a:latin typeface="Helvetica" panose="020B0604020202020204" pitchFamily="34" charset="0"/>
                  <a:cs typeface="Helvetica" panose="020B0604020202020204" pitchFamily="34" charset="0"/>
                </a:endParaRPr>
              </a:p>
            </p:txBody>
          </p:sp>
        </mc:Choice>
        <mc:Fallback>
          <p:sp>
            <p:nvSpPr>
              <p:cNvPr id="4" name="Segnaposto contenuto 3">
                <a:extLst>
                  <a:ext uri="{FF2B5EF4-FFF2-40B4-BE49-F238E27FC236}">
                    <a16:creationId xmlns:a16="http://schemas.microsoft.com/office/drawing/2014/main" id="{BD4C04D6-31B6-02AA-CC78-AFAE86B26833}"/>
                  </a:ext>
                </a:extLst>
              </p:cNvPr>
              <p:cNvSpPr>
                <a:spLocks noGrp="1" noRot="1" noChangeAspect="1" noMove="1" noResize="1" noEditPoints="1" noAdjustHandles="1" noChangeArrowheads="1" noChangeShapeType="1" noTextEdit="1"/>
              </p:cNvSpPr>
              <p:nvPr>
                <p:ph sz="half" idx="1"/>
              </p:nvPr>
            </p:nvSpPr>
            <p:spPr>
              <a:xfrm>
                <a:off x="838200" y="1690688"/>
                <a:ext cx="5181600" cy="3019098"/>
              </a:xfrm>
              <a:blipFill>
                <a:blip r:embed="rId5"/>
                <a:stretch>
                  <a:fillRect l="-824" t="-1815" r="-588" b="-806"/>
                </a:stretch>
              </a:blipFill>
            </p:spPr>
            <p:txBody>
              <a:bodyPr/>
              <a:lstStyle/>
              <a:p>
                <a:r>
                  <a:rPr lang="it-IT">
                    <a:noFill/>
                  </a:rPr>
                  <a:t> </a:t>
                </a:r>
              </a:p>
            </p:txBody>
          </p:sp>
        </mc:Fallback>
      </mc:AlternateContent>
      <p:pic>
        <p:nvPicPr>
          <p:cNvPr id="7" name="Immagine 6">
            <a:extLst>
              <a:ext uri="{FF2B5EF4-FFF2-40B4-BE49-F238E27FC236}">
                <a16:creationId xmlns:a16="http://schemas.microsoft.com/office/drawing/2014/main" id="{4ED586BA-A559-E0FD-6C42-4ED9B4899011}"/>
              </a:ext>
            </a:extLst>
          </p:cNvPr>
          <p:cNvPicPr>
            <a:picLocks noChangeAspect="1"/>
          </p:cNvPicPr>
          <p:nvPr/>
        </p:nvPicPr>
        <p:blipFill>
          <a:blip r:embed="rId6"/>
          <a:stretch>
            <a:fillRect/>
          </a:stretch>
        </p:blipFill>
        <p:spPr>
          <a:xfrm>
            <a:off x="6858000" y="2012740"/>
            <a:ext cx="4105848" cy="2381582"/>
          </a:xfrm>
          <a:prstGeom prst="rect">
            <a:avLst/>
          </a:prstGeom>
        </p:spPr>
      </p:pic>
      <p:sp>
        <p:nvSpPr>
          <p:cNvPr id="9" name="Segnaposto contenuto 3">
            <a:extLst>
              <a:ext uri="{FF2B5EF4-FFF2-40B4-BE49-F238E27FC236}">
                <a16:creationId xmlns:a16="http://schemas.microsoft.com/office/drawing/2014/main" id="{015E195D-0DDF-D0C3-0C61-54F4795A01AC}"/>
              </a:ext>
            </a:extLst>
          </p:cNvPr>
          <p:cNvSpPr txBox="1">
            <a:spLocks/>
          </p:cNvSpPr>
          <p:nvPr/>
        </p:nvSpPr>
        <p:spPr>
          <a:xfrm>
            <a:off x="6858000" y="1651247"/>
            <a:ext cx="5181600" cy="3614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800" dirty="0">
                <a:latin typeface="Helvetica" panose="020B0604020202020204" pitchFamily="34" charset="0"/>
                <a:cs typeface="Helvetica" panose="020B0604020202020204" pitchFamily="34" charset="0"/>
              </a:rPr>
              <a:t>Distanze tra i nodi</a:t>
            </a:r>
          </a:p>
        </p:txBody>
      </p:sp>
      <p:pic>
        <p:nvPicPr>
          <p:cNvPr id="11" name="Immagine 10">
            <a:extLst>
              <a:ext uri="{FF2B5EF4-FFF2-40B4-BE49-F238E27FC236}">
                <a16:creationId xmlns:a16="http://schemas.microsoft.com/office/drawing/2014/main" id="{F9F3B24F-06AC-95F6-A0F0-E6086DB69DFE}"/>
              </a:ext>
            </a:extLst>
          </p:cNvPr>
          <p:cNvPicPr>
            <a:picLocks noChangeAspect="1"/>
          </p:cNvPicPr>
          <p:nvPr/>
        </p:nvPicPr>
        <p:blipFill>
          <a:blip r:embed="rId7"/>
          <a:stretch>
            <a:fillRect/>
          </a:stretch>
        </p:blipFill>
        <p:spPr>
          <a:xfrm>
            <a:off x="889755" y="4846942"/>
            <a:ext cx="8021169" cy="1086002"/>
          </a:xfrm>
          <a:prstGeom prst="rect">
            <a:avLst/>
          </a:prstGeom>
        </p:spPr>
      </p:pic>
    </p:spTree>
    <p:extLst>
      <p:ext uri="{BB962C8B-B14F-4D97-AF65-F5344CB8AC3E}">
        <p14:creationId xmlns:p14="http://schemas.microsoft.com/office/powerpoint/2010/main" val="253874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normAutofit/>
          </a:bodyPr>
          <a:lstStyle/>
          <a:p>
            <a:r>
              <a:rPr lang="it-IT" sz="4000" dirty="0">
                <a:latin typeface="Helvetica" panose="020B0604020202020204" pitchFamily="34" charset="0"/>
                <a:cs typeface="Helvetica" panose="020B0604020202020204" pitchFamily="34" charset="0"/>
              </a:rPr>
              <a:t>Modello di ottimizzazione robusta assoluta</a:t>
            </a:r>
          </a:p>
        </p:txBody>
      </p:sp>
      <p:sp>
        <p:nvSpPr>
          <p:cNvPr id="4" name="Segnaposto contenuto 3">
            <a:extLst>
              <a:ext uri="{FF2B5EF4-FFF2-40B4-BE49-F238E27FC236}">
                <a16:creationId xmlns:a16="http://schemas.microsoft.com/office/drawing/2014/main" id="{BD4C04D6-31B6-02AA-CC78-AFAE86B26833}"/>
              </a:ext>
            </a:extLst>
          </p:cNvPr>
          <p:cNvSpPr>
            <a:spLocks noGrp="1"/>
          </p:cNvSpPr>
          <p:nvPr>
            <p:ph sz="half" idx="1"/>
          </p:nvPr>
        </p:nvSpPr>
        <p:spPr>
          <a:xfrm>
            <a:off x="838199" y="1690688"/>
            <a:ext cx="10735849" cy="1115142"/>
          </a:xfrm>
        </p:spPr>
        <p:txBody>
          <a:bodyPr>
            <a:normAutofit/>
          </a:bodyPr>
          <a:lstStyle/>
          <a:p>
            <a:r>
              <a:rPr lang="it-IT" sz="1800" dirty="0">
                <a:latin typeface="Helvetica" panose="020B0604020202020204" pitchFamily="34" charset="0"/>
                <a:cs typeface="Helvetica" panose="020B0604020202020204" pitchFamily="34" charset="0"/>
              </a:rPr>
              <a:t>Determinare una soluzione in grado di gestire variazioni tra gli scenari</a:t>
            </a:r>
          </a:p>
          <a:p>
            <a:r>
              <a:rPr lang="it-IT" sz="1800" dirty="0">
                <a:latin typeface="Helvetica" panose="020B0604020202020204" pitchFamily="34" charset="0"/>
                <a:cs typeface="Helvetica" panose="020B0604020202020204" pitchFamily="34" charset="0"/>
              </a:rPr>
              <a:t>Garantire il soddisfacimento delle condizioni di ammissibilità per tutti gli scenari</a:t>
            </a:r>
          </a:p>
          <a:p>
            <a:r>
              <a:rPr lang="it-IT" sz="1800" dirty="0">
                <a:latin typeface="Helvetica" panose="020B0604020202020204" pitchFamily="34" charset="0"/>
                <a:cs typeface="Helvetica" panose="020B0604020202020204" pitchFamily="34" charset="0"/>
              </a:rPr>
              <a:t>Minimizzare il massimo tra le somme pesate dei periodi di rivisita su tutti gli scenari</a:t>
            </a:r>
          </a:p>
        </p:txBody>
      </p:sp>
      <p:sp>
        <p:nvSpPr>
          <p:cNvPr id="5" name="Segnaposto contenuto 3">
            <a:extLst>
              <a:ext uri="{FF2B5EF4-FFF2-40B4-BE49-F238E27FC236}">
                <a16:creationId xmlns:a16="http://schemas.microsoft.com/office/drawing/2014/main" id="{7402B96A-77BB-CE1B-452E-B78D73ADAEB4}"/>
              </a:ext>
            </a:extLst>
          </p:cNvPr>
          <p:cNvSpPr txBox="1">
            <a:spLocks/>
          </p:cNvSpPr>
          <p:nvPr/>
        </p:nvSpPr>
        <p:spPr>
          <a:xfrm>
            <a:off x="838198" y="3625936"/>
            <a:ext cx="10735849" cy="5054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800" dirty="0">
                <a:latin typeface="Helvetica" panose="020B0604020202020204" pitchFamily="34" charset="0"/>
                <a:cs typeface="Helvetica" panose="020B0604020202020204" pitchFamily="34" charset="0"/>
              </a:rPr>
              <a:t>Vincoli per linearizzare la funzione obiettivo per l’ottimizzazione robusta assoluta</a:t>
            </a:r>
          </a:p>
          <a:p>
            <a:pPr marL="0" indent="0">
              <a:buNone/>
            </a:pPr>
            <a:endParaRPr lang="it-IT" sz="1800" dirty="0">
              <a:latin typeface="Helvetica" panose="020B0604020202020204" pitchFamily="34" charset="0"/>
              <a:cs typeface="Helvetica" panose="020B0604020202020204" pitchFamily="34" charset="0"/>
            </a:endParaRPr>
          </a:p>
        </p:txBody>
      </p:sp>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ED058688-07F3-3B0A-8AD3-F546C9C3B4C7}"/>
                  </a:ext>
                </a:extLst>
              </p:cNvPr>
              <p:cNvSpPr txBox="1"/>
              <p:nvPr/>
            </p:nvSpPr>
            <p:spPr>
              <a:xfrm>
                <a:off x="4387922" y="3938018"/>
                <a:ext cx="1386020" cy="67223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𝑦</m:t>
                      </m:r>
                      <m:r>
                        <a:rPr lang="it-IT" b="0" i="1" smtClean="0">
                          <a:latin typeface="Cambria Math" panose="02040503050406030204" pitchFamily="18" charset="0"/>
                        </a:rPr>
                        <m:t>≥</m:t>
                      </m:r>
                      <m:nary>
                        <m:naryPr>
                          <m:chr m:val="∑"/>
                          <m:supHide m:val="on"/>
                          <m:ctrlPr>
                            <a:rPr lang="it-IT" b="0" i="1" smtClean="0">
                              <a:latin typeface="Cambria Math" panose="02040503050406030204" pitchFamily="18" charset="0"/>
                            </a:rPr>
                          </m:ctrlPr>
                        </m:naryPr>
                        <m:sub>
                          <m:r>
                            <a:rPr lang="it-IT" b="0" i="1" smtClean="0">
                              <a:latin typeface="Cambria Math" panose="02040503050406030204" pitchFamily="18" charset="0"/>
                            </a:rPr>
                            <m:t>𝑖</m:t>
                          </m:r>
                          <m:r>
                            <a:rPr lang="it-IT" b="0" i="1" smtClean="0">
                              <a:latin typeface="Cambria Math" panose="02040503050406030204" pitchFamily="18" charset="0"/>
                            </a:rPr>
                            <m:t>∈</m:t>
                          </m:r>
                          <m:r>
                            <a:rPr lang="it-IT" b="0" i="1" smtClean="0">
                              <a:latin typeface="Cambria Math" panose="02040503050406030204" pitchFamily="18" charset="0"/>
                            </a:rPr>
                            <m:t>𝑇</m:t>
                          </m:r>
                        </m:sub>
                        <m:sup/>
                        <m:e>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𝑤</m:t>
                              </m:r>
                            </m:e>
                            <m:sub>
                              <m:r>
                                <a:rPr lang="it-IT" b="0" i="1" smtClean="0">
                                  <a:latin typeface="Cambria Math" panose="02040503050406030204" pitchFamily="18" charset="0"/>
                                </a:rPr>
                                <m:t>𝑖</m:t>
                              </m:r>
                            </m:sub>
                            <m:sup>
                              <m:r>
                                <a:rPr lang="it-IT" b="0" i="1" smtClean="0">
                                  <a:latin typeface="Cambria Math" panose="02040503050406030204" pitchFamily="18" charset="0"/>
                                </a:rPr>
                                <m:t>𝑠</m:t>
                              </m:r>
                            </m:sup>
                          </m:sSubSup>
                          <m:sSub>
                            <m:sSubPr>
                              <m:ctrlPr>
                                <a:rPr lang="it-IT" b="0" i="1" smtClean="0">
                                  <a:latin typeface="Cambria Math" panose="02040503050406030204" pitchFamily="18" charset="0"/>
                                </a:rPr>
                              </m:ctrlPr>
                            </m:sSubPr>
                            <m:e>
                              <m:r>
                                <a:rPr lang="it-IT" b="0" i="1" smtClean="0">
                                  <a:latin typeface="Cambria Math" panose="02040503050406030204" pitchFamily="18" charset="0"/>
                                </a:rPr>
                                <m:t>𝑅</m:t>
                              </m:r>
                            </m:e>
                            <m:sub>
                              <m:r>
                                <a:rPr lang="it-IT" b="0" i="1" smtClean="0">
                                  <a:latin typeface="Cambria Math" panose="02040503050406030204" pitchFamily="18" charset="0"/>
                                </a:rPr>
                                <m:t>𝑖</m:t>
                              </m:r>
                            </m:sub>
                          </m:sSub>
                        </m:e>
                      </m:nary>
                      <m:r>
                        <a:rPr lang="it-IT" b="0" i="1" smtClean="0">
                          <a:latin typeface="Cambria Math" panose="02040503050406030204" pitchFamily="18" charset="0"/>
                        </a:rPr>
                        <m:t> </m:t>
                      </m:r>
                    </m:oMath>
                  </m:oMathPara>
                </a14:m>
                <a:endParaRPr lang="it-IT" dirty="0"/>
              </a:p>
            </p:txBody>
          </p:sp>
        </mc:Choice>
        <mc:Fallback>
          <p:sp>
            <p:nvSpPr>
              <p:cNvPr id="6" name="CasellaDiTesto 5">
                <a:extLst>
                  <a:ext uri="{FF2B5EF4-FFF2-40B4-BE49-F238E27FC236}">
                    <a16:creationId xmlns:a16="http://schemas.microsoft.com/office/drawing/2014/main" id="{ED058688-07F3-3B0A-8AD3-F546C9C3B4C7}"/>
                  </a:ext>
                </a:extLst>
              </p:cNvPr>
              <p:cNvSpPr txBox="1">
                <a:spLocks noRot="1" noChangeAspect="1" noMove="1" noResize="1" noEditPoints="1" noAdjustHandles="1" noChangeArrowheads="1" noChangeShapeType="1" noTextEdit="1"/>
              </p:cNvSpPr>
              <p:nvPr/>
            </p:nvSpPr>
            <p:spPr>
              <a:xfrm>
                <a:off x="4387922" y="3938018"/>
                <a:ext cx="1386020" cy="672235"/>
              </a:xfrm>
              <a:prstGeom prst="rect">
                <a:avLst/>
              </a:prstGeom>
              <a:blipFill>
                <a:blip r:embed="rId5"/>
                <a:stretch>
                  <a:fillRect/>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A89A0DCA-BA85-A0B7-1117-4FCEC833217C}"/>
                  </a:ext>
                </a:extLst>
              </p:cNvPr>
              <p:cNvSpPr txBox="1"/>
              <p:nvPr/>
            </p:nvSpPr>
            <p:spPr>
              <a:xfrm>
                <a:off x="7039541" y="4135637"/>
                <a:ext cx="192225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 </m:t>
                      </m:r>
                      <m:r>
                        <a:rPr lang="it-IT" b="0" i="1" smtClean="0">
                          <a:latin typeface="Cambria Math" panose="02040503050406030204" pitchFamily="18" charset="0"/>
                        </a:rPr>
                        <m:t>𝑠</m:t>
                      </m:r>
                      <m:r>
                        <a:rPr lang="it-IT" b="0" i="1" smtClean="0">
                          <a:latin typeface="Cambria Math" panose="02040503050406030204" pitchFamily="18" charset="0"/>
                        </a:rPr>
                        <m:t>∈</m:t>
                      </m:r>
                      <m:r>
                        <a:rPr lang="it-IT" b="0" i="1" smtClean="0">
                          <a:latin typeface="Cambria Math" panose="02040503050406030204" pitchFamily="18" charset="0"/>
                        </a:rPr>
                        <m:t>𝑆</m:t>
                      </m:r>
                      <m:r>
                        <a:rPr lang="it-IT" b="0" i="1" smtClean="0">
                          <a:latin typeface="Cambria Math" panose="02040503050406030204" pitchFamily="18" charset="0"/>
                        </a:rPr>
                        <m:t>={</m:t>
                      </m:r>
                      <m:r>
                        <a:rPr lang="it-IT" b="0" i="1" smtClean="0">
                          <a:latin typeface="Cambria Math" panose="02040503050406030204" pitchFamily="18" charset="0"/>
                        </a:rPr>
                        <m:t>𝑜</m:t>
                      </m:r>
                      <m:r>
                        <a:rPr lang="it-IT" b="0" i="1" smtClean="0">
                          <a:latin typeface="Cambria Math" panose="02040503050406030204" pitchFamily="18" charset="0"/>
                        </a:rPr>
                        <m:t>,</m:t>
                      </m:r>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𝑝</m:t>
                      </m:r>
                      <m:r>
                        <a:rPr lang="it-IT" b="0" i="1" smtClean="0">
                          <a:latin typeface="Cambria Math" panose="02040503050406030204" pitchFamily="18" charset="0"/>
                        </a:rPr>
                        <m:t>} </m:t>
                      </m:r>
                    </m:oMath>
                  </m:oMathPara>
                </a14:m>
                <a:endParaRPr lang="it-IT" dirty="0"/>
              </a:p>
            </p:txBody>
          </p:sp>
        </mc:Choice>
        <mc:Fallback>
          <p:sp>
            <p:nvSpPr>
              <p:cNvPr id="12" name="CasellaDiTesto 11">
                <a:extLst>
                  <a:ext uri="{FF2B5EF4-FFF2-40B4-BE49-F238E27FC236}">
                    <a16:creationId xmlns:a16="http://schemas.microsoft.com/office/drawing/2014/main" id="{A89A0DCA-BA85-A0B7-1117-4FCEC833217C}"/>
                  </a:ext>
                </a:extLst>
              </p:cNvPr>
              <p:cNvSpPr txBox="1">
                <a:spLocks noRot="1" noChangeAspect="1" noMove="1" noResize="1" noEditPoints="1" noAdjustHandles="1" noChangeArrowheads="1" noChangeShapeType="1" noTextEdit="1"/>
              </p:cNvSpPr>
              <p:nvPr/>
            </p:nvSpPr>
            <p:spPr>
              <a:xfrm>
                <a:off x="7039541" y="4135637"/>
                <a:ext cx="1922257" cy="276999"/>
              </a:xfrm>
              <a:prstGeom prst="rect">
                <a:avLst/>
              </a:prstGeom>
              <a:blipFill>
                <a:blip r:embed="rId6"/>
                <a:stretch>
                  <a:fillRect l="-2222" t="-2174" r="-1270" b="-36957"/>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C6097EB7-6002-1401-5282-44D4ED0A2F6E}"/>
                  </a:ext>
                </a:extLst>
              </p:cNvPr>
              <p:cNvSpPr txBox="1"/>
              <p:nvPr/>
            </p:nvSpPr>
            <p:spPr>
              <a:xfrm>
                <a:off x="3812316" y="2756765"/>
                <a:ext cx="2537233" cy="73827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min</m:t>
                          </m:r>
                        </m:fName>
                        <m:e>
                          <m:d>
                            <m:dPr>
                              <m:begChr m:val="{"/>
                              <m:endChr m:val="}"/>
                              <m:ctrlPr>
                                <a:rPr lang="it-IT" b="0" i="1" smtClean="0">
                                  <a:latin typeface="Cambria Math" panose="02040503050406030204" pitchFamily="18" charset="0"/>
                                </a:rPr>
                              </m:ctrlPr>
                            </m:dPr>
                            <m:e>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max</m:t>
                                  </m:r>
                                </m:fName>
                                <m:e>
                                  <m:r>
                                    <a:rPr lang="it-IT" b="0" i="1" smtClean="0">
                                      <a:latin typeface="Cambria Math" panose="02040503050406030204" pitchFamily="18" charset="0"/>
                                    </a:rPr>
                                    <m:t> </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𝑧</m:t>
                                      </m:r>
                                    </m:e>
                                    <m:sup>
                                      <m:r>
                                        <a:rPr lang="it-IT" b="0" i="1" smtClean="0">
                                          <a:latin typeface="Cambria Math" panose="02040503050406030204" pitchFamily="18" charset="0"/>
                                        </a:rPr>
                                        <m:t>𝑠</m:t>
                                      </m:r>
                                    </m:sup>
                                  </m:sSup>
                                  <m:r>
                                    <a:rPr lang="it-IT" b="0" i="1" smtClean="0">
                                      <a:latin typeface="Cambria Math" panose="02040503050406030204" pitchFamily="18" charset="0"/>
                                    </a:rPr>
                                    <m:t>=</m:t>
                                  </m:r>
                                  <m:nary>
                                    <m:naryPr>
                                      <m:chr m:val="∑"/>
                                      <m:supHide m:val="on"/>
                                      <m:ctrlPr>
                                        <a:rPr lang="it-IT" i="1">
                                          <a:latin typeface="Cambria Math" panose="02040503050406030204" pitchFamily="18" charset="0"/>
                                        </a:rPr>
                                      </m:ctrlPr>
                                    </m:naryPr>
                                    <m:sub>
                                      <m:r>
                                        <a:rPr lang="it-IT" i="1">
                                          <a:latin typeface="Cambria Math" panose="02040503050406030204" pitchFamily="18" charset="0"/>
                                        </a:rPr>
                                        <m:t>𝑖</m:t>
                                      </m:r>
                                      <m:r>
                                        <a:rPr lang="it-IT" i="1">
                                          <a:latin typeface="Cambria Math" panose="02040503050406030204" pitchFamily="18" charset="0"/>
                                        </a:rPr>
                                        <m:t>∈</m:t>
                                      </m:r>
                                      <m:r>
                                        <a:rPr lang="it-IT" i="1">
                                          <a:latin typeface="Cambria Math" panose="02040503050406030204" pitchFamily="18" charset="0"/>
                                        </a:rPr>
                                        <m:t>𝑇</m:t>
                                      </m:r>
                                    </m:sub>
                                    <m:sup/>
                                    <m:e>
                                      <m:sSubSup>
                                        <m:sSubSupPr>
                                          <m:ctrlPr>
                                            <a:rPr lang="it-IT" i="1">
                                              <a:latin typeface="Cambria Math" panose="02040503050406030204" pitchFamily="18" charset="0"/>
                                            </a:rPr>
                                          </m:ctrlPr>
                                        </m:sSubSupPr>
                                        <m:e>
                                          <m:r>
                                            <a:rPr lang="it-IT" i="1">
                                              <a:latin typeface="Cambria Math" panose="02040503050406030204" pitchFamily="18" charset="0"/>
                                            </a:rPr>
                                            <m:t>𝑤</m:t>
                                          </m:r>
                                        </m:e>
                                        <m:sub>
                                          <m:r>
                                            <a:rPr lang="it-IT" i="1">
                                              <a:latin typeface="Cambria Math" panose="02040503050406030204" pitchFamily="18" charset="0"/>
                                            </a:rPr>
                                            <m:t>𝑖</m:t>
                                          </m:r>
                                        </m:sub>
                                        <m:sup>
                                          <m:r>
                                            <a:rPr lang="it-IT" i="1">
                                              <a:latin typeface="Cambria Math" panose="02040503050406030204" pitchFamily="18" charset="0"/>
                                            </a:rPr>
                                            <m:t>𝑠</m:t>
                                          </m:r>
                                        </m:sup>
                                      </m:sSubSup>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𝑖</m:t>
                                          </m:r>
                                        </m:sub>
                                      </m:sSub>
                                    </m:e>
                                  </m:nary>
                                </m:e>
                              </m:func>
                            </m:e>
                          </m:d>
                        </m:e>
                      </m:func>
                    </m:oMath>
                  </m:oMathPara>
                </a14:m>
                <a:endParaRPr lang="it-IT" dirty="0"/>
              </a:p>
            </p:txBody>
          </p:sp>
        </mc:Choice>
        <mc:Fallback>
          <p:sp>
            <p:nvSpPr>
              <p:cNvPr id="13" name="CasellaDiTesto 12">
                <a:extLst>
                  <a:ext uri="{FF2B5EF4-FFF2-40B4-BE49-F238E27FC236}">
                    <a16:creationId xmlns:a16="http://schemas.microsoft.com/office/drawing/2014/main" id="{C6097EB7-6002-1401-5282-44D4ED0A2F6E}"/>
                  </a:ext>
                </a:extLst>
              </p:cNvPr>
              <p:cNvSpPr txBox="1">
                <a:spLocks noRot="1" noChangeAspect="1" noMove="1" noResize="1" noEditPoints="1" noAdjustHandles="1" noChangeArrowheads="1" noChangeShapeType="1" noTextEdit="1"/>
              </p:cNvSpPr>
              <p:nvPr/>
            </p:nvSpPr>
            <p:spPr>
              <a:xfrm>
                <a:off x="3812316" y="2756765"/>
                <a:ext cx="2537233" cy="738279"/>
              </a:xfrm>
              <a:prstGeom prst="rect">
                <a:avLst/>
              </a:prstGeom>
              <a:blipFill>
                <a:blip r:embed="rId7"/>
                <a:stretch>
                  <a:fillRect/>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5" name="CasellaDiTesto 14">
                <a:extLst>
                  <a:ext uri="{FF2B5EF4-FFF2-40B4-BE49-F238E27FC236}">
                    <a16:creationId xmlns:a16="http://schemas.microsoft.com/office/drawing/2014/main" id="{A999EF44-C2B1-134C-DDA5-6B5975F10686}"/>
                  </a:ext>
                </a:extLst>
              </p:cNvPr>
              <p:cNvSpPr txBox="1"/>
              <p:nvPr/>
            </p:nvSpPr>
            <p:spPr>
              <a:xfrm>
                <a:off x="7039541" y="2987404"/>
                <a:ext cx="192225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 </m:t>
                      </m:r>
                      <m:r>
                        <a:rPr lang="it-IT" b="0" i="1" smtClean="0">
                          <a:latin typeface="Cambria Math" panose="02040503050406030204" pitchFamily="18" charset="0"/>
                        </a:rPr>
                        <m:t>𝑠</m:t>
                      </m:r>
                      <m:r>
                        <a:rPr lang="it-IT" b="0" i="1" smtClean="0">
                          <a:latin typeface="Cambria Math" panose="02040503050406030204" pitchFamily="18" charset="0"/>
                        </a:rPr>
                        <m:t>∈</m:t>
                      </m:r>
                      <m:r>
                        <a:rPr lang="it-IT" b="0" i="1" smtClean="0">
                          <a:latin typeface="Cambria Math" panose="02040503050406030204" pitchFamily="18" charset="0"/>
                        </a:rPr>
                        <m:t>𝑆</m:t>
                      </m:r>
                      <m:r>
                        <a:rPr lang="it-IT" b="0" i="1" smtClean="0">
                          <a:latin typeface="Cambria Math" panose="02040503050406030204" pitchFamily="18" charset="0"/>
                        </a:rPr>
                        <m:t>={</m:t>
                      </m:r>
                      <m:r>
                        <a:rPr lang="it-IT" b="0" i="1" smtClean="0">
                          <a:latin typeface="Cambria Math" panose="02040503050406030204" pitchFamily="18" charset="0"/>
                        </a:rPr>
                        <m:t>𝑜</m:t>
                      </m:r>
                      <m:r>
                        <a:rPr lang="it-IT" b="0" i="1" smtClean="0">
                          <a:latin typeface="Cambria Math" panose="02040503050406030204" pitchFamily="18" charset="0"/>
                        </a:rPr>
                        <m:t>,</m:t>
                      </m:r>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𝑝</m:t>
                      </m:r>
                      <m:r>
                        <a:rPr lang="it-IT" b="0" i="1" smtClean="0">
                          <a:latin typeface="Cambria Math" panose="02040503050406030204" pitchFamily="18" charset="0"/>
                        </a:rPr>
                        <m:t>} </m:t>
                      </m:r>
                    </m:oMath>
                  </m:oMathPara>
                </a14:m>
                <a:endParaRPr lang="it-IT" dirty="0"/>
              </a:p>
            </p:txBody>
          </p:sp>
        </mc:Choice>
        <mc:Fallback>
          <p:sp>
            <p:nvSpPr>
              <p:cNvPr id="15" name="CasellaDiTesto 14">
                <a:extLst>
                  <a:ext uri="{FF2B5EF4-FFF2-40B4-BE49-F238E27FC236}">
                    <a16:creationId xmlns:a16="http://schemas.microsoft.com/office/drawing/2014/main" id="{A999EF44-C2B1-134C-DDA5-6B5975F10686}"/>
                  </a:ext>
                </a:extLst>
              </p:cNvPr>
              <p:cNvSpPr txBox="1">
                <a:spLocks noRot="1" noChangeAspect="1" noMove="1" noResize="1" noEditPoints="1" noAdjustHandles="1" noChangeArrowheads="1" noChangeShapeType="1" noTextEdit="1"/>
              </p:cNvSpPr>
              <p:nvPr/>
            </p:nvSpPr>
            <p:spPr>
              <a:xfrm>
                <a:off x="7039541" y="2987404"/>
                <a:ext cx="1922257" cy="276999"/>
              </a:xfrm>
              <a:prstGeom prst="rect">
                <a:avLst/>
              </a:prstGeom>
              <a:blipFill>
                <a:blip r:embed="rId8"/>
                <a:stretch>
                  <a:fillRect l="-2222" t="-2222" r="-1270" b="-40000"/>
                </a:stretch>
              </a:blipFill>
            </p:spPr>
            <p:txBody>
              <a:bodyPr/>
              <a:lstStyle/>
              <a:p>
                <a:r>
                  <a:rPr lang="it-IT">
                    <a:noFill/>
                  </a:rPr>
                  <a:t> </a:t>
                </a:r>
              </a:p>
            </p:txBody>
          </p:sp>
        </mc:Fallback>
      </mc:AlternateContent>
      <p:sp>
        <p:nvSpPr>
          <p:cNvPr id="17" name="Segnaposto contenuto 3">
            <a:extLst>
              <a:ext uri="{FF2B5EF4-FFF2-40B4-BE49-F238E27FC236}">
                <a16:creationId xmlns:a16="http://schemas.microsoft.com/office/drawing/2014/main" id="{544A4086-4752-CD1D-8BA9-44EE029DA4ED}"/>
              </a:ext>
            </a:extLst>
          </p:cNvPr>
          <p:cNvSpPr txBox="1">
            <a:spLocks/>
          </p:cNvSpPr>
          <p:nvPr/>
        </p:nvSpPr>
        <p:spPr>
          <a:xfrm>
            <a:off x="838197" y="4762217"/>
            <a:ext cx="10735849" cy="5054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800" dirty="0">
                <a:latin typeface="Helvetica" panose="020B0604020202020204" pitchFamily="34" charset="0"/>
                <a:cs typeface="Helvetica" panose="020B0604020202020204" pitchFamily="34" charset="0"/>
              </a:rPr>
              <a:t>Funzione obiettivo aggregata considerando l’ottimizzazione robusta</a:t>
            </a:r>
          </a:p>
        </p:txBody>
      </p:sp>
      <mc:AlternateContent xmlns:mc="http://schemas.openxmlformats.org/markup-compatibility/2006">
        <mc:Choice xmlns:a14="http://schemas.microsoft.com/office/drawing/2010/main" Requires="a14">
          <p:sp>
            <p:nvSpPr>
              <p:cNvPr id="18" name="CasellaDiTesto 17">
                <a:extLst>
                  <a:ext uri="{FF2B5EF4-FFF2-40B4-BE49-F238E27FC236}">
                    <a16:creationId xmlns:a16="http://schemas.microsoft.com/office/drawing/2014/main" id="{E73E500D-294E-3670-3945-18AF9A6EC668}"/>
                  </a:ext>
                </a:extLst>
              </p:cNvPr>
              <p:cNvSpPr txBox="1"/>
              <p:nvPr/>
            </p:nvSpPr>
            <p:spPr>
              <a:xfrm>
                <a:off x="3574429" y="5419638"/>
                <a:ext cx="439902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min</m:t>
                          </m:r>
                        </m:fName>
                        <m:e>
                          <m:r>
                            <a:rPr lang="it-IT" b="0" i="1" smtClean="0">
                              <a:latin typeface="Cambria Math" panose="02040503050406030204" pitchFamily="18" charset="0"/>
                            </a:rPr>
                            <m:t>𝑧</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r>
                                <a:rPr lang="it-IT" b="0" i="1" smtClean="0">
                                  <a:latin typeface="Cambria Math" panose="02040503050406030204" pitchFamily="18" charset="0"/>
                                </a:rPr>
                                <m:t>,</m:t>
                              </m:r>
                              <m:r>
                                <a:rPr lang="it-IT" b="0" i="1" smtClean="0">
                                  <a:latin typeface="Cambria Math" panose="02040503050406030204" pitchFamily="18" charset="0"/>
                                </a:rPr>
                                <m:t>𝑢</m:t>
                              </m:r>
                              <m:r>
                                <a:rPr lang="it-IT" b="0" i="1" smtClean="0">
                                  <a:latin typeface="Cambria Math" panose="02040503050406030204" pitchFamily="18" charset="0"/>
                                </a:rPr>
                                <m:t>,</m:t>
                              </m:r>
                              <m:r>
                                <a:rPr lang="it-IT" b="0" i="1" smtClean="0">
                                  <a:latin typeface="Cambria Math" panose="02040503050406030204" pitchFamily="18" charset="0"/>
                                </a:rPr>
                                <m:t>𝑣</m:t>
                              </m:r>
                              <m:r>
                                <a:rPr lang="it-IT" b="0" i="1" smtClean="0">
                                  <a:latin typeface="Cambria Math" panose="02040503050406030204" pitchFamily="18" charset="0"/>
                                </a:rPr>
                                <m:t>,</m:t>
                              </m:r>
                              <m:r>
                                <a:rPr lang="it-IT" b="0" i="1" smtClean="0">
                                  <a:latin typeface="Cambria Math" panose="02040503050406030204" pitchFamily="18" charset="0"/>
                                </a:rPr>
                                <m:t>𝑅</m:t>
                              </m:r>
                              <m:r>
                                <a:rPr lang="it-IT" b="0" i="1" smtClean="0">
                                  <a:latin typeface="Cambria Math" panose="02040503050406030204" pitchFamily="18" charset="0"/>
                                </a:rPr>
                                <m:t>,</m:t>
                              </m:r>
                              <m:r>
                                <a:rPr lang="it-IT" b="0" i="1" smtClean="0">
                                  <a:latin typeface="Cambria Math" panose="02040503050406030204" pitchFamily="18" charset="0"/>
                                </a:rPr>
                                <m:t>𝑑</m:t>
                              </m:r>
                              <m:r>
                                <a:rPr lang="it-IT" b="0" i="1" smtClean="0">
                                  <a:latin typeface="Cambria Math" panose="02040503050406030204" pitchFamily="18" charset="0"/>
                                </a:rPr>
                                <m:t>,</m:t>
                              </m:r>
                              <m:r>
                                <a:rPr lang="it-IT" b="0" i="1" smtClean="0">
                                  <a:latin typeface="Cambria Math" panose="02040503050406030204" pitchFamily="18" charset="0"/>
                                </a:rPr>
                                <m:t>𝑦</m:t>
                              </m:r>
                            </m:e>
                          </m:d>
                          <m:r>
                            <a:rPr lang="it-IT" b="0" i="1" smtClean="0">
                              <a:latin typeface="Cambria Math" panose="02040503050406030204" pitchFamily="18" charset="0"/>
                            </a:rPr>
                            <m:t>=0.75⋅</m:t>
                          </m:r>
                          <m:r>
                            <a:rPr lang="it-IT" b="0" i="1" smtClean="0">
                              <a:latin typeface="Cambria Math" panose="02040503050406030204" pitchFamily="18" charset="0"/>
                            </a:rPr>
                            <m:t>𝑦</m:t>
                          </m:r>
                          <m:r>
                            <a:rPr lang="it-IT" b="0" i="1" smtClean="0">
                              <a:latin typeface="Cambria Math" panose="02040503050406030204" pitchFamily="18" charset="0"/>
                            </a:rPr>
                            <m:t>+0.25⋅</m:t>
                          </m:r>
                          <m:r>
                            <a:rPr lang="it-IT" b="0" i="1" smtClean="0">
                              <a:latin typeface="Cambria Math" panose="02040503050406030204" pitchFamily="18" charset="0"/>
                            </a:rPr>
                            <m:t>𝑝</m:t>
                          </m:r>
                          <m:r>
                            <a:rPr lang="it-IT" b="0" i="1" smtClean="0">
                              <a:latin typeface="Cambria Math" panose="02040503050406030204" pitchFamily="18" charset="0"/>
                            </a:rPr>
                            <m:t>⋅</m:t>
                          </m:r>
                          <m:r>
                            <a:rPr lang="it-IT" b="0" i="1" smtClean="0">
                              <a:latin typeface="Cambria Math" panose="02040503050406030204" pitchFamily="18" charset="0"/>
                            </a:rPr>
                            <m:t>𝑑</m:t>
                          </m:r>
                        </m:e>
                      </m:func>
                    </m:oMath>
                  </m:oMathPara>
                </a14:m>
                <a:endParaRPr lang="it-IT" dirty="0"/>
              </a:p>
            </p:txBody>
          </p:sp>
        </mc:Choice>
        <mc:Fallback>
          <p:sp>
            <p:nvSpPr>
              <p:cNvPr id="18" name="CasellaDiTesto 17">
                <a:extLst>
                  <a:ext uri="{FF2B5EF4-FFF2-40B4-BE49-F238E27FC236}">
                    <a16:creationId xmlns:a16="http://schemas.microsoft.com/office/drawing/2014/main" id="{E73E500D-294E-3670-3945-18AF9A6EC668}"/>
                  </a:ext>
                </a:extLst>
              </p:cNvPr>
              <p:cNvSpPr txBox="1">
                <a:spLocks noRot="1" noChangeAspect="1" noMove="1" noResize="1" noEditPoints="1" noAdjustHandles="1" noChangeArrowheads="1" noChangeShapeType="1" noTextEdit="1"/>
              </p:cNvSpPr>
              <p:nvPr/>
            </p:nvSpPr>
            <p:spPr>
              <a:xfrm>
                <a:off x="3574429" y="5419638"/>
                <a:ext cx="4399025" cy="276999"/>
              </a:xfrm>
              <a:prstGeom prst="rect">
                <a:avLst/>
              </a:prstGeom>
              <a:blipFill>
                <a:blip r:embed="rId9"/>
                <a:stretch>
                  <a:fillRect l="-693" r="-693" b="-26667"/>
                </a:stretch>
              </a:blipFill>
            </p:spPr>
            <p:txBody>
              <a:bodyPr/>
              <a:lstStyle/>
              <a:p>
                <a:r>
                  <a:rPr lang="it-IT">
                    <a:noFill/>
                  </a:rPr>
                  <a:t> </a:t>
                </a:r>
              </a:p>
            </p:txBody>
          </p:sp>
        </mc:Fallback>
      </mc:AlternateContent>
    </p:spTree>
    <p:extLst>
      <p:ext uri="{BB962C8B-B14F-4D97-AF65-F5344CB8AC3E}">
        <p14:creationId xmlns:p14="http://schemas.microsoft.com/office/powerpoint/2010/main" val="73463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Ottimizzazione</a:t>
            </a:r>
          </a:p>
        </p:txBody>
      </p:sp>
      <mc:AlternateContent xmlns:mc="http://schemas.openxmlformats.org/markup-compatibility/2006">
        <mc:Choice xmlns:a14="http://schemas.microsoft.com/office/drawing/2010/main" Requires="a14">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200" y="1825625"/>
                <a:ext cx="10936266" cy="4049081"/>
              </a:xfrm>
            </p:spPr>
            <p:txBody>
              <a:bodyPr>
                <a:normAutofit/>
              </a:bodyPr>
              <a:lstStyle/>
              <a:p>
                <a:pPr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Implementazione </a:t>
                </a:r>
                <a:r>
                  <a:rPr lang="it-IT" sz="1800" b="0" i="0" dirty="0" err="1">
                    <a:solidFill>
                      <a:srgbClr val="374151"/>
                    </a:solidFill>
                    <a:effectLst/>
                    <a:latin typeface="Helvetica" panose="020B0604020202020204" pitchFamily="34" charset="0"/>
                    <a:cs typeface="Helvetica" panose="020B0604020202020204" pitchFamily="34" charset="0"/>
                  </a:rPr>
                  <a:t>matlab</a:t>
                </a:r>
                <a:r>
                  <a:rPr lang="it-IT" sz="1800" b="0" i="0" dirty="0">
                    <a:solidFill>
                      <a:srgbClr val="374151"/>
                    </a:solidFill>
                    <a:effectLst/>
                    <a:latin typeface="Helvetica" panose="020B0604020202020204" pitchFamily="34" charset="0"/>
                    <a:cs typeface="Helvetica" panose="020B0604020202020204" pitchFamily="34" charset="0"/>
                  </a:rPr>
                  <a:t> dei modelli matematico:</a:t>
                </a:r>
              </a:p>
              <a:p>
                <a:pPr lvl="1"/>
                <a:r>
                  <a:rPr lang="it-IT" sz="1800" b="0" i="0" dirty="0">
                    <a:solidFill>
                      <a:srgbClr val="374151"/>
                    </a:solidFill>
                    <a:effectLst/>
                    <a:latin typeface="Helvetica" panose="020B0604020202020204" pitchFamily="34" charset="0"/>
                    <a:cs typeface="Helvetica" panose="020B0604020202020204" pitchFamily="34" charset="0"/>
                  </a:rPr>
                  <a:t>Per lo scenario ottimistico</a:t>
                </a:r>
              </a:p>
              <a:p>
                <a:pPr lvl="1"/>
                <a:r>
                  <a:rPr lang="it-IT" sz="1800" b="0" i="0" dirty="0">
                    <a:solidFill>
                      <a:srgbClr val="374151"/>
                    </a:solidFill>
                    <a:effectLst/>
                    <a:latin typeface="Helvetica" panose="020B0604020202020204" pitchFamily="34" charset="0"/>
                    <a:cs typeface="Helvetica" panose="020B0604020202020204" pitchFamily="34" charset="0"/>
                  </a:rPr>
                  <a:t>Per lo scenario medio</a:t>
                </a:r>
              </a:p>
              <a:p>
                <a:pPr lvl="1"/>
                <a:r>
                  <a:rPr lang="it-IT" sz="1800" b="0" i="0" dirty="0">
                    <a:solidFill>
                      <a:srgbClr val="374151"/>
                    </a:solidFill>
                    <a:effectLst/>
                    <a:latin typeface="Helvetica" panose="020B0604020202020204" pitchFamily="34" charset="0"/>
                    <a:cs typeface="Helvetica" panose="020B0604020202020204" pitchFamily="34" charset="0"/>
                  </a:rPr>
                  <a:t>Per lo scenario pessimistico</a:t>
                </a:r>
              </a:p>
              <a:p>
                <a:pPr lvl="1"/>
                <a:r>
                  <a:rPr lang="it-IT" sz="1800" b="0" i="0" dirty="0">
                    <a:solidFill>
                      <a:srgbClr val="374151"/>
                    </a:solidFill>
                    <a:effectLst/>
                    <a:latin typeface="Helvetica" panose="020B0604020202020204" pitchFamily="34" charset="0"/>
                    <a:cs typeface="Helvetica" panose="020B0604020202020204" pitchFamily="34" charset="0"/>
                  </a:rPr>
                  <a:t>Di ottimizzazione robusta in senso assoluto</a:t>
                </a:r>
              </a:p>
              <a:p>
                <a:r>
                  <a:rPr lang="it-IT" sz="1800" b="0" i="0" dirty="0">
                    <a:solidFill>
                      <a:srgbClr val="374151"/>
                    </a:solidFill>
                    <a:effectLst/>
                    <a:latin typeface="Helvetica" panose="020B0604020202020204" pitchFamily="34" charset="0"/>
                    <a:cs typeface="Helvetica" panose="020B0604020202020204" pitchFamily="34" charset="0"/>
                  </a:rPr>
                  <a:t>Definizione delle matrici tecnologie </a:t>
                </a:r>
                <a14:m>
                  <m:oMath xmlns:m="http://schemas.openxmlformats.org/officeDocument/2006/math">
                    <m:r>
                      <a:rPr lang="it-IT" sz="1800" b="0" i="1" smtClean="0">
                        <a:solidFill>
                          <a:srgbClr val="374151"/>
                        </a:solidFill>
                        <a:effectLst/>
                        <a:latin typeface="Cambria Math" panose="02040503050406030204" pitchFamily="18" charset="0"/>
                        <a:cs typeface="Helvetica" panose="020B0604020202020204" pitchFamily="34" charset="0"/>
                      </a:rPr>
                      <m:t>𝐴</m:t>
                    </m:r>
                  </m:oMath>
                </a14:m>
                <a:r>
                  <a:rPr lang="it-IT" sz="1800" b="0" i="0" dirty="0">
                    <a:solidFill>
                      <a:srgbClr val="374151"/>
                    </a:solidFill>
                    <a:effectLst/>
                    <a:latin typeface="Helvetica" panose="020B0604020202020204" pitchFamily="34" charset="0"/>
                    <a:cs typeface="Helvetica" panose="020B0604020202020204" pitchFamily="34" charset="0"/>
                  </a:rPr>
                  <a:t> e </a:t>
                </a:r>
                <a14:m>
                  <m:oMath xmlns:m="http://schemas.openxmlformats.org/officeDocument/2006/math">
                    <m:sSub>
                      <m:sSubPr>
                        <m:ctrlPr>
                          <a:rPr lang="it-IT" sz="1800" b="0" i="1" smtClean="0">
                            <a:solidFill>
                              <a:srgbClr val="374151"/>
                            </a:solidFill>
                            <a:effectLst/>
                            <a:latin typeface="Cambria Math" panose="02040503050406030204" pitchFamily="18" charset="0"/>
                            <a:cs typeface="Helvetica" panose="020B0604020202020204" pitchFamily="34" charset="0"/>
                          </a:rPr>
                        </m:ctrlPr>
                      </m:sSubPr>
                      <m:e>
                        <m:r>
                          <a:rPr lang="it-IT" sz="1800" b="0" i="1" smtClean="0">
                            <a:solidFill>
                              <a:srgbClr val="374151"/>
                            </a:solidFill>
                            <a:effectLst/>
                            <a:latin typeface="Cambria Math" panose="02040503050406030204" pitchFamily="18" charset="0"/>
                            <a:cs typeface="Helvetica" panose="020B0604020202020204" pitchFamily="34" charset="0"/>
                          </a:rPr>
                          <m:t>𝐴</m:t>
                        </m:r>
                      </m:e>
                      <m:sub>
                        <m:r>
                          <a:rPr lang="it-IT" sz="1800" b="0" i="1" smtClean="0">
                            <a:solidFill>
                              <a:srgbClr val="374151"/>
                            </a:solidFill>
                            <a:effectLst/>
                            <a:latin typeface="Cambria Math" panose="02040503050406030204" pitchFamily="18" charset="0"/>
                            <a:cs typeface="Helvetica" panose="020B0604020202020204" pitchFamily="34" charset="0"/>
                          </a:rPr>
                          <m:t>𝑒𝑞</m:t>
                        </m:r>
                      </m:sub>
                    </m:sSub>
                  </m:oMath>
                </a14:m>
                <a:endParaRPr lang="it-IT" sz="1800" b="0" i="0" dirty="0">
                  <a:solidFill>
                    <a:srgbClr val="374151"/>
                  </a:solidFill>
                  <a:effectLst/>
                  <a:latin typeface="Helvetica" panose="020B0604020202020204" pitchFamily="34" charset="0"/>
                  <a:cs typeface="Helvetica" panose="020B0604020202020204" pitchFamily="34" charset="0"/>
                </a:endParaRPr>
              </a:p>
              <a:p>
                <a:r>
                  <a:rPr lang="it-IT" sz="1800" dirty="0">
                    <a:solidFill>
                      <a:srgbClr val="374151"/>
                    </a:solidFill>
                    <a:latin typeface="Helvetica" panose="020B0604020202020204" pitchFamily="34" charset="0"/>
                    <a:cs typeface="Helvetica" panose="020B0604020202020204" pitchFamily="34" charset="0"/>
                  </a:rPr>
                  <a:t>Definizione del vettore dei termini noti </a:t>
                </a:r>
                <a14:m>
                  <m:oMath xmlns:m="http://schemas.openxmlformats.org/officeDocument/2006/math">
                    <m:r>
                      <a:rPr lang="it-IT" sz="1800" b="0" i="1" smtClean="0">
                        <a:solidFill>
                          <a:srgbClr val="374151"/>
                        </a:solidFill>
                        <a:latin typeface="Cambria Math" panose="02040503050406030204" pitchFamily="18" charset="0"/>
                        <a:cs typeface="Helvetica" panose="020B0604020202020204" pitchFamily="34" charset="0"/>
                      </a:rPr>
                      <m:t>𝑏</m:t>
                    </m:r>
                  </m:oMath>
                </a14:m>
                <a:r>
                  <a:rPr lang="it-IT" sz="1800" b="0" i="0" dirty="0">
                    <a:solidFill>
                      <a:srgbClr val="374151"/>
                    </a:solidFill>
                    <a:effectLst/>
                    <a:latin typeface="Helvetica" panose="020B0604020202020204" pitchFamily="34" charset="0"/>
                    <a:cs typeface="Helvetica" panose="020B0604020202020204" pitchFamily="34" charset="0"/>
                  </a:rPr>
                  <a:t> e </a:t>
                </a:r>
                <a14:m>
                  <m:oMath xmlns:m="http://schemas.openxmlformats.org/officeDocument/2006/math">
                    <m:sSub>
                      <m:sSubPr>
                        <m:ctrlPr>
                          <a:rPr lang="it-IT" sz="1800" b="0" i="1" smtClean="0">
                            <a:solidFill>
                              <a:srgbClr val="374151"/>
                            </a:solidFill>
                            <a:effectLst/>
                            <a:latin typeface="Cambria Math" panose="02040503050406030204" pitchFamily="18" charset="0"/>
                            <a:cs typeface="Helvetica" panose="020B0604020202020204" pitchFamily="34" charset="0"/>
                          </a:rPr>
                        </m:ctrlPr>
                      </m:sSubPr>
                      <m:e>
                        <m:r>
                          <a:rPr lang="it-IT" sz="1800" b="0" i="1" smtClean="0">
                            <a:solidFill>
                              <a:srgbClr val="374151"/>
                            </a:solidFill>
                            <a:effectLst/>
                            <a:latin typeface="Cambria Math" panose="02040503050406030204" pitchFamily="18" charset="0"/>
                            <a:cs typeface="Helvetica" panose="020B0604020202020204" pitchFamily="34" charset="0"/>
                          </a:rPr>
                          <m:t>𝑏</m:t>
                        </m:r>
                      </m:e>
                      <m:sub>
                        <m:r>
                          <a:rPr lang="it-IT" sz="1800" b="0" i="1" smtClean="0">
                            <a:solidFill>
                              <a:srgbClr val="374151"/>
                            </a:solidFill>
                            <a:effectLst/>
                            <a:latin typeface="Cambria Math" panose="02040503050406030204" pitchFamily="18" charset="0"/>
                            <a:cs typeface="Helvetica" panose="020B0604020202020204" pitchFamily="34" charset="0"/>
                          </a:rPr>
                          <m:t>𝑒𝑞</m:t>
                        </m:r>
                      </m:sub>
                    </m:sSub>
                  </m:oMath>
                </a14:m>
                <a:endParaRPr lang="it-IT" sz="1800" b="0" i="0" dirty="0">
                  <a:solidFill>
                    <a:srgbClr val="374151"/>
                  </a:solidFill>
                  <a:effectLst/>
                  <a:latin typeface="Helvetica" panose="020B0604020202020204" pitchFamily="34" charset="0"/>
                  <a:cs typeface="Helvetica" panose="020B0604020202020204" pitchFamily="34" charset="0"/>
                </a:endParaRPr>
              </a:p>
              <a:p>
                <a:r>
                  <a:rPr lang="it-IT" sz="1800" dirty="0">
                    <a:solidFill>
                      <a:srgbClr val="374151"/>
                    </a:solidFill>
                    <a:latin typeface="Helvetica" panose="020B0604020202020204" pitchFamily="34" charset="0"/>
                    <a:cs typeface="Helvetica" panose="020B0604020202020204" pitchFamily="34" charset="0"/>
                  </a:rPr>
                  <a:t>Funzione </a:t>
                </a:r>
                <a:r>
                  <a:rPr lang="it-IT" sz="1800" dirty="0" err="1">
                    <a:solidFill>
                      <a:srgbClr val="374151"/>
                    </a:solidFill>
                    <a:latin typeface="Helvetica" panose="020B0604020202020204" pitchFamily="34" charset="0"/>
                    <a:cs typeface="Helvetica" panose="020B0604020202020204" pitchFamily="34" charset="0"/>
                  </a:rPr>
                  <a:t>intlinprog</a:t>
                </a:r>
                <a:r>
                  <a:rPr lang="it-IT" sz="1800" dirty="0">
                    <a:solidFill>
                      <a:srgbClr val="374151"/>
                    </a:solidFill>
                    <a:latin typeface="Helvetica" panose="020B0604020202020204" pitchFamily="34" charset="0"/>
                    <a:cs typeface="Helvetica" panose="020B0604020202020204" pitchFamily="34" charset="0"/>
                  </a:rPr>
                  <a:t> dell’</a:t>
                </a:r>
                <a:r>
                  <a:rPr lang="it-IT" sz="1800" dirty="0" err="1">
                    <a:solidFill>
                      <a:srgbClr val="374151"/>
                    </a:solidFill>
                    <a:latin typeface="Helvetica" panose="020B0604020202020204" pitchFamily="34" charset="0"/>
                    <a:cs typeface="Helvetica" panose="020B0604020202020204" pitchFamily="34" charset="0"/>
                  </a:rPr>
                  <a:t>Optimization</a:t>
                </a:r>
                <a:r>
                  <a:rPr lang="it-IT" sz="1800" dirty="0">
                    <a:solidFill>
                      <a:srgbClr val="374151"/>
                    </a:solidFill>
                    <a:latin typeface="Helvetica" panose="020B0604020202020204" pitchFamily="34" charset="0"/>
                    <a:cs typeface="Helvetica" panose="020B0604020202020204" pitchFamily="34" charset="0"/>
                  </a:rPr>
                  <a:t> Toolbox di Matlab</a:t>
                </a:r>
                <a:endParaRPr lang="it-IT" sz="1800" b="0" i="0" dirty="0">
                  <a:solidFill>
                    <a:srgbClr val="374151"/>
                  </a:solidFill>
                  <a:effectLst/>
                  <a:latin typeface="Helvetica" panose="020B0604020202020204" pitchFamily="34" charset="0"/>
                  <a:cs typeface="Helvetica" panose="020B0604020202020204" pitchFamily="34" charset="0"/>
                </a:endParaRPr>
              </a:p>
              <a:p>
                <a:pPr lvl="1"/>
                <a:endParaRPr lang="it-IT" sz="1800" b="0" i="0" dirty="0">
                  <a:solidFill>
                    <a:srgbClr val="374151"/>
                  </a:solidFill>
                  <a:effectLst/>
                  <a:latin typeface="Helvetica" panose="020B0604020202020204" pitchFamily="34" charset="0"/>
                  <a:cs typeface="Helvetica" panose="020B0604020202020204" pitchFamily="34" charset="0"/>
                </a:endParaRPr>
              </a:p>
            </p:txBody>
          </p:sp>
        </mc:Choice>
        <mc:Fallback>
          <p:sp>
            <p:nvSpPr>
              <p:cNvPr id="17" name="Segnaposto contenuto 2">
                <a:extLst>
                  <a:ext uri="{FF2B5EF4-FFF2-40B4-BE49-F238E27FC236}">
                    <a16:creationId xmlns:a16="http://schemas.microsoft.com/office/drawing/2014/main" id="{D815B67E-8766-25C5-9AA5-665F183DF069}"/>
                  </a:ext>
                </a:extLst>
              </p:cNvPr>
              <p:cNvSpPr>
                <a:spLocks noGrp="1" noRot="1" noChangeAspect="1" noMove="1" noResize="1" noEditPoints="1" noAdjustHandles="1" noChangeArrowheads="1" noChangeShapeType="1" noTextEdit="1"/>
              </p:cNvSpPr>
              <p:nvPr>
                <p:ph idx="1"/>
              </p:nvPr>
            </p:nvSpPr>
            <p:spPr>
              <a:xfrm>
                <a:off x="838200" y="1825625"/>
                <a:ext cx="10936266" cy="4049081"/>
              </a:xfrm>
              <a:blipFill>
                <a:blip r:embed="rId5"/>
                <a:stretch>
                  <a:fillRect l="-390" t="-1353"/>
                </a:stretch>
              </a:blipFill>
            </p:spPr>
            <p:txBody>
              <a:bodyPr/>
              <a:lstStyle/>
              <a:p>
                <a:r>
                  <a:rPr lang="it-IT">
                    <a:noFill/>
                  </a:rPr>
                  <a:t> </a:t>
                </a:r>
              </a:p>
            </p:txBody>
          </p:sp>
        </mc:Fallback>
      </mc:AlternateContent>
      <p:pic>
        <p:nvPicPr>
          <p:cNvPr id="4" name="Immagine 3" descr="Immagine che contiene testo, grafica, Elementi grafici, Carattere&#10;&#10;Descrizione generata automaticamente">
            <a:extLst>
              <a:ext uri="{FF2B5EF4-FFF2-40B4-BE49-F238E27FC236}">
                <a16:creationId xmlns:a16="http://schemas.microsoft.com/office/drawing/2014/main" id="{ED74C027-38D4-731B-822C-1622983DF53F}"/>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0496006" y="5223034"/>
            <a:ext cx="1269841" cy="1269841"/>
          </a:xfrm>
          <a:prstGeom prst="rect">
            <a:avLst/>
          </a:prstGeom>
        </p:spPr>
      </p:pic>
    </p:spTree>
    <p:extLst>
      <p:ext uri="{BB962C8B-B14F-4D97-AF65-F5344CB8AC3E}">
        <p14:creationId xmlns:p14="http://schemas.microsoft.com/office/powerpoint/2010/main" val="3457949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Risultati scenario ottimistico</a:t>
            </a:r>
          </a:p>
        </p:txBody>
      </p:sp>
      <p:pic>
        <p:nvPicPr>
          <p:cNvPr id="11" name="Segnaposto contenuto 10">
            <a:extLst>
              <a:ext uri="{FF2B5EF4-FFF2-40B4-BE49-F238E27FC236}">
                <a16:creationId xmlns:a16="http://schemas.microsoft.com/office/drawing/2014/main" id="{800A9015-84F4-3288-68F0-EBC242401096}"/>
              </a:ext>
            </a:extLst>
          </p:cNvPr>
          <p:cNvPicPr>
            <a:picLocks noGrp="1" noChangeAspect="1"/>
          </p:cNvPicPr>
          <p:nvPr>
            <p:ph sz="half" idx="1"/>
          </p:nvPr>
        </p:nvPicPr>
        <p:blipFill rotWithShape="1">
          <a:blip r:embed="rId5">
            <a:extLst>
              <a:ext uri="{28A0092B-C50C-407E-A947-70E740481C1C}">
                <a14:useLocalDpi xmlns:a14="http://schemas.microsoft.com/office/drawing/2010/main" val="0"/>
              </a:ext>
            </a:extLst>
          </a:blip>
          <a:srcRect l="16314" t="12268" r="13801" b="13078"/>
          <a:stretch/>
        </p:blipFill>
        <p:spPr>
          <a:xfrm>
            <a:off x="7114780" y="2680723"/>
            <a:ext cx="4659543" cy="3733083"/>
          </a:xfrm>
        </p:spPr>
      </p:pic>
      <p:sp>
        <p:nvSpPr>
          <p:cNvPr id="12" name="CasellaDiTesto 11">
            <a:extLst>
              <a:ext uri="{FF2B5EF4-FFF2-40B4-BE49-F238E27FC236}">
                <a16:creationId xmlns:a16="http://schemas.microsoft.com/office/drawing/2014/main" id="{048462CA-39AE-887F-B93A-56B9A2CFA598}"/>
              </a:ext>
            </a:extLst>
          </p:cNvPr>
          <p:cNvSpPr txBox="1"/>
          <p:nvPr/>
        </p:nvSpPr>
        <p:spPr>
          <a:xfrm>
            <a:off x="831937" y="1565427"/>
            <a:ext cx="6082430" cy="92333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it-IT" b="0" i="0" dirty="0">
                <a:solidFill>
                  <a:srgbClr val="374151"/>
                </a:solidFill>
                <a:effectLst/>
                <a:latin typeface="Helvetica" panose="020B0604020202020204" pitchFamily="34" charset="0"/>
                <a:cs typeface="Helvetica" panose="020B0604020202020204" pitchFamily="34" charset="0"/>
              </a:rPr>
              <a:t>Acquisto di 4 droni </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a:t>
            </a:r>
            <a:r>
              <a:rPr lang="it-IT" b="0" i="0" dirty="0">
                <a:solidFill>
                  <a:srgbClr val="374151"/>
                </a:solidFill>
                <a:effectLst/>
                <a:latin typeface="Helvetica" panose="020B0604020202020204" pitchFamily="34" charset="0"/>
                <a:cs typeface="Helvetica" panose="020B0604020202020204" pitchFamily="34" charset="0"/>
              </a:rPr>
              <a:t>pesa complessiv</a:t>
            </a:r>
            <a:r>
              <a:rPr lang="it-IT" dirty="0">
                <a:solidFill>
                  <a:srgbClr val="374151"/>
                </a:solidFill>
                <a:latin typeface="Helvetica" panose="020B0604020202020204" pitchFamily="34" charset="0"/>
                <a:cs typeface="Helvetica" panose="020B0604020202020204" pitchFamily="34" charset="0"/>
              </a:rPr>
              <a:t>a di 4000</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Somma pesata dei periodi di rivista pari a 504.510 ore</a:t>
            </a:r>
          </a:p>
        </p:txBody>
      </p:sp>
      <p:pic>
        <p:nvPicPr>
          <p:cNvPr id="3" name="Immagine 2">
            <a:extLst>
              <a:ext uri="{FF2B5EF4-FFF2-40B4-BE49-F238E27FC236}">
                <a16:creationId xmlns:a16="http://schemas.microsoft.com/office/drawing/2014/main" id="{C44E7426-ADC0-3EC0-0119-CB4F221DC9AF}"/>
              </a:ext>
            </a:extLst>
          </p:cNvPr>
          <p:cNvPicPr>
            <a:picLocks noChangeAspect="1"/>
          </p:cNvPicPr>
          <p:nvPr/>
        </p:nvPicPr>
        <p:blipFill>
          <a:blip r:embed="rId6"/>
          <a:stretch>
            <a:fillRect/>
          </a:stretch>
        </p:blipFill>
        <p:spPr>
          <a:xfrm>
            <a:off x="542937" y="2488757"/>
            <a:ext cx="7035309" cy="1609092"/>
          </a:xfrm>
          <a:prstGeom prst="rect">
            <a:avLst/>
          </a:prstGeom>
        </p:spPr>
      </p:pic>
    </p:spTree>
    <p:extLst>
      <p:ext uri="{BB962C8B-B14F-4D97-AF65-F5344CB8AC3E}">
        <p14:creationId xmlns:p14="http://schemas.microsoft.com/office/powerpoint/2010/main" val="1823137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Risultati scenario medio</a:t>
            </a:r>
          </a:p>
        </p:txBody>
      </p:sp>
      <p:sp>
        <p:nvSpPr>
          <p:cNvPr id="12" name="CasellaDiTesto 11">
            <a:extLst>
              <a:ext uri="{FF2B5EF4-FFF2-40B4-BE49-F238E27FC236}">
                <a16:creationId xmlns:a16="http://schemas.microsoft.com/office/drawing/2014/main" id="{048462CA-39AE-887F-B93A-56B9A2CFA598}"/>
              </a:ext>
            </a:extLst>
          </p:cNvPr>
          <p:cNvSpPr txBox="1"/>
          <p:nvPr/>
        </p:nvSpPr>
        <p:spPr>
          <a:xfrm>
            <a:off x="831937" y="1565427"/>
            <a:ext cx="6082430" cy="92333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it-IT" b="0" i="0" dirty="0">
                <a:solidFill>
                  <a:srgbClr val="374151"/>
                </a:solidFill>
                <a:effectLst/>
                <a:latin typeface="Helvetica" panose="020B0604020202020204" pitchFamily="34" charset="0"/>
                <a:cs typeface="Helvetica" panose="020B0604020202020204" pitchFamily="34" charset="0"/>
              </a:rPr>
              <a:t>Acquisto di 5 droni </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a:t>
            </a:r>
            <a:r>
              <a:rPr lang="it-IT" b="0" i="0" dirty="0">
                <a:solidFill>
                  <a:srgbClr val="374151"/>
                </a:solidFill>
                <a:effectLst/>
                <a:latin typeface="Helvetica" panose="020B0604020202020204" pitchFamily="34" charset="0"/>
                <a:cs typeface="Helvetica" panose="020B0604020202020204" pitchFamily="34" charset="0"/>
              </a:rPr>
              <a:t>pesa complessiv</a:t>
            </a:r>
            <a:r>
              <a:rPr lang="it-IT" dirty="0">
                <a:solidFill>
                  <a:srgbClr val="374151"/>
                </a:solidFill>
                <a:latin typeface="Helvetica" panose="020B0604020202020204" pitchFamily="34" charset="0"/>
                <a:cs typeface="Helvetica" panose="020B0604020202020204" pitchFamily="34" charset="0"/>
              </a:rPr>
              <a:t>a di 5000</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Somma pesata dei periodi di rivista pari a 456.29 ore</a:t>
            </a:r>
          </a:p>
        </p:txBody>
      </p:sp>
      <p:pic>
        <p:nvPicPr>
          <p:cNvPr id="3" name="Immagine 2">
            <a:extLst>
              <a:ext uri="{FF2B5EF4-FFF2-40B4-BE49-F238E27FC236}">
                <a16:creationId xmlns:a16="http://schemas.microsoft.com/office/drawing/2014/main" id="{C44E7426-ADC0-3EC0-0119-CB4F221DC9AF}"/>
              </a:ext>
            </a:extLst>
          </p:cNvPr>
          <p:cNvPicPr>
            <a:picLocks noChangeAspect="1"/>
          </p:cNvPicPr>
          <p:nvPr/>
        </p:nvPicPr>
        <p:blipFill>
          <a:blip r:embed="rId5"/>
          <a:stretch>
            <a:fillRect/>
          </a:stretch>
        </p:blipFill>
        <p:spPr>
          <a:xfrm>
            <a:off x="542937" y="2488757"/>
            <a:ext cx="7035309" cy="1609092"/>
          </a:xfrm>
          <a:prstGeom prst="rect">
            <a:avLst/>
          </a:prstGeom>
        </p:spPr>
      </p:pic>
      <p:pic>
        <p:nvPicPr>
          <p:cNvPr id="6" name="Immagine 5" descr="Immagine che contiene linea, diagramma, schermata, cerchio&#10;&#10;Descrizione generata automaticamente">
            <a:extLst>
              <a:ext uri="{FF2B5EF4-FFF2-40B4-BE49-F238E27FC236}">
                <a16:creationId xmlns:a16="http://schemas.microsoft.com/office/drawing/2014/main" id="{86768993-87A4-3A62-43B7-4AAE6C39CBF9}"/>
              </a:ext>
            </a:extLst>
          </p:cNvPr>
          <p:cNvPicPr>
            <a:picLocks noChangeAspect="1"/>
          </p:cNvPicPr>
          <p:nvPr/>
        </p:nvPicPr>
        <p:blipFill rotWithShape="1">
          <a:blip r:embed="rId6">
            <a:extLst>
              <a:ext uri="{28A0092B-C50C-407E-A947-70E740481C1C}">
                <a14:useLocalDpi xmlns:a14="http://schemas.microsoft.com/office/drawing/2010/main" val="0"/>
              </a:ext>
            </a:extLst>
          </a:blip>
          <a:srcRect l="16810" t="12734" r="12552" b="17502"/>
          <a:stretch/>
        </p:blipFill>
        <p:spPr>
          <a:xfrm>
            <a:off x="7139835" y="3004203"/>
            <a:ext cx="4374074" cy="3240000"/>
          </a:xfrm>
          <a:prstGeom prst="rect">
            <a:avLst/>
          </a:prstGeom>
        </p:spPr>
      </p:pic>
    </p:spTree>
    <p:extLst>
      <p:ext uri="{BB962C8B-B14F-4D97-AF65-F5344CB8AC3E}">
        <p14:creationId xmlns:p14="http://schemas.microsoft.com/office/powerpoint/2010/main" val="559403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Risultati scenario pessimistico</a:t>
            </a:r>
          </a:p>
        </p:txBody>
      </p:sp>
      <p:sp>
        <p:nvSpPr>
          <p:cNvPr id="12" name="CasellaDiTesto 11">
            <a:extLst>
              <a:ext uri="{FF2B5EF4-FFF2-40B4-BE49-F238E27FC236}">
                <a16:creationId xmlns:a16="http://schemas.microsoft.com/office/drawing/2014/main" id="{048462CA-39AE-887F-B93A-56B9A2CFA598}"/>
              </a:ext>
            </a:extLst>
          </p:cNvPr>
          <p:cNvSpPr txBox="1"/>
          <p:nvPr/>
        </p:nvSpPr>
        <p:spPr>
          <a:xfrm>
            <a:off x="831937" y="1565427"/>
            <a:ext cx="6082430" cy="92333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it-IT" b="0" i="0" dirty="0">
                <a:solidFill>
                  <a:srgbClr val="374151"/>
                </a:solidFill>
                <a:effectLst/>
                <a:latin typeface="Helvetica" panose="020B0604020202020204" pitchFamily="34" charset="0"/>
                <a:cs typeface="Helvetica" panose="020B0604020202020204" pitchFamily="34" charset="0"/>
              </a:rPr>
              <a:t>Acquisto di 5 droni </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a:t>
            </a:r>
            <a:r>
              <a:rPr lang="it-IT" b="0" i="0" dirty="0">
                <a:solidFill>
                  <a:srgbClr val="374151"/>
                </a:solidFill>
                <a:effectLst/>
                <a:latin typeface="Helvetica" panose="020B0604020202020204" pitchFamily="34" charset="0"/>
                <a:cs typeface="Helvetica" panose="020B0604020202020204" pitchFamily="34" charset="0"/>
              </a:rPr>
              <a:t>pesa complessiv</a:t>
            </a:r>
            <a:r>
              <a:rPr lang="it-IT" dirty="0">
                <a:solidFill>
                  <a:srgbClr val="374151"/>
                </a:solidFill>
                <a:latin typeface="Helvetica" panose="020B0604020202020204" pitchFamily="34" charset="0"/>
                <a:cs typeface="Helvetica" panose="020B0604020202020204" pitchFamily="34" charset="0"/>
              </a:rPr>
              <a:t>a di 5000</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Somma pesata dei periodi di rivista pari a 456.29 ore</a:t>
            </a:r>
          </a:p>
        </p:txBody>
      </p:sp>
      <p:pic>
        <p:nvPicPr>
          <p:cNvPr id="3" name="Immagine 2">
            <a:extLst>
              <a:ext uri="{FF2B5EF4-FFF2-40B4-BE49-F238E27FC236}">
                <a16:creationId xmlns:a16="http://schemas.microsoft.com/office/drawing/2014/main" id="{C44E7426-ADC0-3EC0-0119-CB4F221DC9AF}"/>
              </a:ext>
            </a:extLst>
          </p:cNvPr>
          <p:cNvPicPr>
            <a:picLocks noChangeAspect="1"/>
          </p:cNvPicPr>
          <p:nvPr/>
        </p:nvPicPr>
        <p:blipFill>
          <a:blip r:embed="rId5"/>
          <a:stretch>
            <a:fillRect/>
          </a:stretch>
        </p:blipFill>
        <p:spPr>
          <a:xfrm>
            <a:off x="542937" y="2488757"/>
            <a:ext cx="7035309" cy="1609092"/>
          </a:xfrm>
          <a:prstGeom prst="rect">
            <a:avLst/>
          </a:prstGeom>
        </p:spPr>
      </p:pic>
      <p:pic>
        <p:nvPicPr>
          <p:cNvPr id="6" name="Segnaposto contenuto 5" descr="Immagine che contiene linea, diagramma, schermata&#10;&#10;Descrizione generata automaticamente">
            <a:extLst>
              <a:ext uri="{FF2B5EF4-FFF2-40B4-BE49-F238E27FC236}">
                <a16:creationId xmlns:a16="http://schemas.microsoft.com/office/drawing/2014/main" id="{25E7AE02-2D08-AC4F-92D2-6C6F8968410C}"/>
              </a:ext>
            </a:extLst>
          </p:cNvPr>
          <p:cNvPicPr>
            <a:picLocks noGrp="1" noChangeAspect="1"/>
          </p:cNvPicPr>
          <p:nvPr>
            <p:ph sz="half" idx="1"/>
          </p:nvPr>
        </p:nvPicPr>
        <p:blipFill rotWithShape="1">
          <a:blip r:embed="rId6">
            <a:extLst>
              <a:ext uri="{28A0092B-C50C-407E-A947-70E740481C1C}">
                <a14:useLocalDpi xmlns:a14="http://schemas.microsoft.com/office/drawing/2010/main" val="0"/>
              </a:ext>
            </a:extLst>
          </a:blip>
          <a:srcRect l="16438" t="11893" r="12973" b="16873"/>
          <a:stretch/>
        </p:blipFill>
        <p:spPr>
          <a:xfrm>
            <a:off x="7578246" y="3068877"/>
            <a:ext cx="4280907" cy="3240000"/>
          </a:xfrm>
        </p:spPr>
      </p:pic>
    </p:spTree>
    <p:extLst>
      <p:ext uri="{BB962C8B-B14F-4D97-AF65-F5344CB8AC3E}">
        <p14:creationId xmlns:p14="http://schemas.microsoft.com/office/powerpoint/2010/main" val="1906830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Risultati ottimizzazione robusta</a:t>
            </a:r>
          </a:p>
        </p:txBody>
      </p:sp>
      <p:sp>
        <p:nvSpPr>
          <p:cNvPr id="12" name="CasellaDiTesto 11">
            <a:extLst>
              <a:ext uri="{FF2B5EF4-FFF2-40B4-BE49-F238E27FC236}">
                <a16:creationId xmlns:a16="http://schemas.microsoft.com/office/drawing/2014/main" id="{048462CA-39AE-887F-B93A-56B9A2CFA598}"/>
              </a:ext>
            </a:extLst>
          </p:cNvPr>
          <p:cNvSpPr txBox="1"/>
          <p:nvPr/>
        </p:nvSpPr>
        <p:spPr>
          <a:xfrm>
            <a:off x="831937" y="1565427"/>
            <a:ext cx="6082430" cy="92333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it-IT" b="0" i="0" dirty="0">
                <a:solidFill>
                  <a:srgbClr val="374151"/>
                </a:solidFill>
                <a:effectLst/>
                <a:latin typeface="Helvetica" panose="020B0604020202020204" pitchFamily="34" charset="0"/>
                <a:cs typeface="Helvetica" panose="020B0604020202020204" pitchFamily="34" charset="0"/>
              </a:rPr>
              <a:t>Acquisto di 6 droni </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a:t>
            </a:r>
            <a:r>
              <a:rPr lang="it-IT" b="0" i="0" dirty="0">
                <a:solidFill>
                  <a:srgbClr val="374151"/>
                </a:solidFill>
                <a:effectLst/>
                <a:latin typeface="Helvetica" panose="020B0604020202020204" pitchFamily="34" charset="0"/>
                <a:cs typeface="Helvetica" panose="020B0604020202020204" pitchFamily="34" charset="0"/>
              </a:rPr>
              <a:t>pesa complessiv</a:t>
            </a:r>
            <a:r>
              <a:rPr lang="it-IT" dirty="0">
                <a:solidFill>
                  <a:srgbClr val="374151"/>
                </a:solidFill>
                <a:latin typeface="Helvetica" panose="020B0604020202020204" pitchFamily="34" charset="0"/>
                <a:cs typeface="Helvetica" panose="020B0604020202020204" pitchFamily="34" charset="0"/>
              </a:rPr>
              <a:t>a di 6000</a:t>
            </a:r>
          </a:p>
          <a:p>
            <a:pPr marL="285750" indent="-285750">
              <a:buFont typeface="Arial" panose="020B0604020202020204" pitchFamily="34" charset="0"/>
              <a:buChar char="•"/>
            </a:pPr>
            <a:r>
              <a:rPr lang="it-IT" dirty="0">
                <a:solidFill>
                  <a:srgbClr val="374151"/>
                </a:solidFill>
                <a:latin typeface="Helvetica" panose="020B0604020202020204" pitchFamily="34" charset="0"/>
                <a:cs typeface="Helvetica" panose="020B0604020202020204" pitchFamily="34" charset="0"/>
              </a:rPr>
              <a:t>Somma pesata dei periodi di rivista pari a 531.83 ore</a:t>
            </a:r>
          </a:p>
        </p:txBody>
      </p:sp>
      <p:pic>
        <p:nvPicPr>
          <p:cNvPr id="3" name="Immagine 2">
            <a:extLst>
              <a:ext uri="{FF2B5EF4-FFF2-40B4-BE49-F238E27FC236}">
                <a16:creationId xmlns:a16="http://schemas.microsoft.com/office/drawing/2014/main" id="{C44E7426-ADC0-3EC0-0119-CB4F221DC9AF}"/>
              </a:ext>
            </a:extLst>
          </p:cNvPr>
          <p:cNvPicPr>
            <a:picLocks noChangeAspect="1"/>
          </p:cNvPicPr>
          <p:nvPr/>
        </p:nvPicPr>
        <p:blipFill>
          <a:blip r:embed="rId5"/>
          <a:stretch>
            <a:fillRect/>
          </a:stretch>
        </p:blipFill>
        <p:spPr>
          <a:xfrm>
            <a:off x="542937" y="2488757"/>
            <a:ext cx="7035309" cy="1609092"/>
          </a:xfrm>
          <a:prstGeom prst="rect">
            <a:avLst/>
          </a:prstGeom>
        </p:spPr>
      </p:pic>
      <p:pic>
        <p:nvPicPr>
          <p:cNvPr id="6" name="Immagine 5" descr="Immagine che contiene linea, diagramma, schermata&#10;&#10;Descrizione generata automaticamente">
            <a:extLst>
              <a:ext uri="{FF2B5EF4-FFF2-40B4-BE49-F238E27FC236}">
                <a16:creationId xmlns:a16="http://schemas.microsoft.com/office/drawing/2014/main" id="{75C0CE60-83A4-C13E-9EA7-063EF2CE6682}"/>
              </a:ext>
            </a:extLst>
          </p:cNvPr>
          <p:cNvPicPr>
            <a:picLocks noChangeAspect="1"/>
          </p:cNvPicPr>
          <p:nvPr/>
        </p:nvPicPr>
        <p:blipFill rotWithShape="1">
          <a:blip r:embed="rId6">
            <a:extLst>
              <a:ext uri="{28A0092B-C50C-407E-A947-70E740481C1C}">
                <a14:useLocalDpi xmlns:a14="http://schemas.microsoft.com/office/drawing/2010/main" val="0"/>
              </a:ext>
            </a:extLst>
          </a:blip>
          <a:srcRect l="16148" t="13215" r="14341" b="16147"/>
          <a:stretch/>
        </p:blipFill>
        <p:spPr>
          <a:xfrm>
            <a:off x="7665928" y="3311588"/>
            <a:ext cx="4251063" cy="3240000"/>
          </a:xfrm>
          <a:prstGeom prst="rect">
            <a:avLst/>
          </a:prstGeom>
        </p:spPr>
      </p:pic>
    </p:spTree>
    <p:extLst>
      <p:ext uri="{BB962C8B-B14F-4D97-AF65-F5344CB8AC3E}">
        <p14:creationId xmlns:p14="http://schemas.microsoft.com/office/powerpoint/2010/main" val="1538830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Analisi dei risultati</a:t>
            </a:r>
          </a:p>
        </p:txBody>
      </p:sp>
      <p:pic>
        <p:nvPicPr>
          <p:cNvPr id="6" name="Immagine 5">
            <a:extLst>
              <a:ext uri="{FF2B5EF4-FFF2-40B4-BE49-F238E27FC236}">
                <a16:creationId xmlns:a16="http://schemas.microsoft.com/office/drawing/2014/main" id="{2D9EFAB8-3B85-9165-702A-905AF03A524B}"/>
              </a:ext>
            </a:extLst>
          </p:cNvPr>
          <p:cNvPicPr>
            <a:picLocks noChangeAspect="1"/>
          </p:cNvPicPr>
          <p:nvPr/>
        </p:nvPicPr>
        <p:blipFill>
          <a:blip r:embed="rId5"/>
          <a:stretch>
            <a:fillRect/>
          </a:stretch>
        </p:blipFill>
        <p:spPr>
          <a:xfrm>
            <a:off x="700413" y="1196980"/>
            <a:ext cx="10036891" cy="2232020"/>
          </a:xfrm>
          <a:prstGeom prst="rect">
            <a:avLst/>
          </a:prstGeom>
        </p:spPr>
      </p:pic>
      <p:pic>
        <p:nvPicPr>
          <p:cNvPr id="13" name="Immagine 12">
            <a:extLst>
              <a:ext uri="{FF2B5EF4-FFF2-40B4-BE49-F238E27FC236}">
                <a16:creationId xmlns:a16="http://schemas.microsoft.com/office/drawing/2014/main" id="{6D50A847-E3C8-BFBD-E597-2D4E46385AC6}"/>
              </a:ext>
            </a:extLst>
          </p:cNvPr>
          <p:cNvPicPr>
            <a:picLocks noChangeAspect="1"/>
          </p:cNvPicPr>
          <p:nvPr/>
        </p:nvPicPr>
        <p:blipFill>
          <a:blip r:embed="rId6"/>
          <a:stretch>
            <a:fillRect/>
          </a:stretch>
        </p:blipFill>
        <p:spPr>
          <a:xfrm>
            <a:off x="663926" y="3762683"/>
            <a:ext cx="8942156" cy="1748769"/>
          </a:xfrm>
          <a:prstGeom prst="rect">
            <a:avLst/>
          </a:prstGeom>
        </p:spPr>
      </p:pic>
      <p:sp>
        <p:nvSpPr>
          <p:cNvPr id="14" name="CasellaDiTesto 13">
            <a:extLst>
              <a:ext uri="{FF2B5EF4-FFF2-40B4-BE49-F238E27FC236}">
                <a16:creationId xmlns:a16="http://schemas.microsoft.com/office/drawing/2014/main" id="{7FD22691-E314-7F11-1CF4-A3287313CCFB}"/>
              </a:ext>
            </a:extLst>
          </p:cNvPr>
          <p:cNvSpPr txBox="1"/>
          <p:nvPr/>
        </p:nvSpPr>
        <p:spPr>
          <a:xfrm>
            <a:off x="3835052" y="3429000"/>
            <a:ext cx="4521896" cy="369332"/>
          </a:xfrm>
          <a:prstGeom prst="rect">
            <a:avLst/>
          </a:prstGeom>
          <a:noFill/>
        </p:spPr>
        <p:txBody>
          <a:bodyPr wrap="square" rtlCol="0">
            <a:spAutoFit/>
          </a:bodyPr>
          <a:lstStyle/>
          <a:p>
            <a:r>
              <a:rPr lang="it-IT" dirty="0">
                <a:latin typeface="Helvetica" panose="020B0604020202020204" pitchFamily="34" charset="0"/>
                <a:cs typeface="Helvetica" panose="020B0604020202020204" pitchFamily="34" charset="0"/>
              </a:rPr>
              <a:t>Tabella 8: Riepilogo dei periodi di rivisita </a:t>
            </a:r>
          </a:p>
        </p:txBody>
      </p:sp>
      <p:sp>
        <p:nvSpPr>
          <p:cNvPr id="15" name="CasellaDiTesto 14">
            <a:extLst>
              <a:ext uri="{FF2B5EF4-FFF2-40B4-BE49-F238E27FC236}">
                <a16:creationId xmlns:a16="http://schemas.microsoft.com/office/drawing/2014/main" id="{3BDF3CE1-89C5-3EC7-8797-1DEEBBDC69BB}"/>
              </a:ext>
            </a:extLst>
          </p:cNvPr>
          <p:cNvSpPr txBox="1"/>
          <p:nvPr/>
        </p:nvSpPr>
        <p:spPr>
          <a:xfrm>
            <a:off x="3835052" y="5728994"/>
            <a:ext cx="7112696" cy="369332"/>
          </a:xfrm>
          <a:prstGeom prst="rect">
            <a:avLst/>
          </a:prstGeom>
          <a:noFill/>
        </p:spPr>
        <p:txBody>
          <a:bodyPr wrap="square" rtlCol="0">
            <a:spAutoFit/>
          </a:bodyPr>
          <a:lstStyle/>
          <a:p>
            <a:r>
              <a:rPr lang="it-IT" dirty="0">
                <a:latin typeface="Helvetica" panose="020B0604020202020204" pitchFamily="34" charset="0"/>
                <a:cs typeface="Helvetica" panose="020B0604020202020204" pitchFamily="34" charset="0"/>
              </a:rPr>
              <a:t>Tabella 9: Riepilogo del numero di droni e spesa complessiva </a:t>
            </a:r>
          </a:p>
        </p:txBody>
      </p:sp>
    </p:spTree>
    <p:extLst>
      <p:ext uri="{BB962C8B-B14F-4D97-AF65-F5344CB8AC3E}">
        <p14:creationId xmlns:p14="http://schemas.microsoft.com/office/powerpoint/2010/main" val="1681441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Titolo 1">
            <a:extLst>
              <a:ext uri="{FF2B5EF4-FFF2-40B4-BE49-F238E27FC236}">
                <a16:creationId xmlns:a16="http://schemas.microsoft.com/office/drawing/2014/main" id="{331DB212-DACA-F502-EA5A-6E2C1BC0BD8D}"/>
              </a:ext>
            </a:extLst>
          </p:cNvPr>
          <p:cNvSpPr>
            <a:spLocks noGrp="1"/>
          </p:cNvSpPr>
          <p:nvPr>
            <p:ph type="title"/>
          </p:nvPr>
        </p:nvSpPr>
        <p:spPr>
          <a:xfrm>
            <a:off x="838200" y="365125"/>
            <a:ext cx="10515600" cy="1325563"/>
          </a:xfrm>
        </p:spPr>
        <p:txBody>
          <a:bodyPr/>
          <a:lstStyle/>
          <a:p>
            <a:r>
              <a:rPr lang="it-IT" dirty="0">
                <a:latin typeface="Helvetica" panose="020B0604020202020204" pitchFamily="34" charset="0"/>
                <a:cs typeface="Helvetica" panose="020B0604020202020204" pitchFamily="34" charset="0"/>
              </a:rPr>
              <a:t>Conclusioni</a:t>
            </a:r>
          </a:p>
        </p:txBody>
      </p:sp>
      <p:sp>
        <p:nvSpPr>
          <p:cNvPr id="17" name="Segnaposto contenuto 2">
            <a:extLst>
              <a:ext uri="{FF2B5EF4-FFF2-40B4-BE49-F238E27FC236}">
                <a16:creationId xmlns:a16="http://schemas.microsoft.com/office/drawing/2014/main" id="{D815B67E-8766-25C5-9AA5-665F183DF069}"/>
              </a:ext>
            </a:extLst>
          </p:cNvPr>
          <p:cNvSpPr>
            <a:spLocks noGrp="1"/>
          </p:cNvSpPr>
          <p:nvPr>
            <p:ph idx="1"/>
          </p:nvPr>
        </p:nvSpPr>
        <p:spPr>
          <a:xfrm>
            <a:off x="838200" y="1825625"/>
            <a:ext cx="10936266" cy="2558485"/>
          </a:xfrm>
        </p:spPr>
        <p:txBody>
          <a:bodyPr>
            <a:normAutofit/>
          </a:bodyPr>
          <a:lstStyle/>
          <a:p>
            <a:pPr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L’obiettivo di minimizzare la somma pesata dei periodi di rivisita e la riduzione del costo di acquisto dei droni per le missioni di ISR è stato raggiunto</a:t>
            </a:r>
          </a:p>
          <a:p>
            <a:pPr algn="l">
              <a:buFont typeface="Arial" panose="020B0604020202020204" pitchFamily="34" charset="0"/>
              <a:buChar char="•"/>
            </a:pPr>
            <a:r>
              <a:rPr lang="it-IT" sz="1800" dirty="0">
                <a:solidFill>
                  <a:srgbClr val="374151"/>
                </a:solidFill>
                <a:latin typeface="Helvetica" panose="020B0604020202020204" pitchFamily="34" charset="0"/>
                <a:cs typeface="Helvetica" panose="020B0604020202020204" pitchFamily="34" charset="0"/>
              </a:rPr>
              <a:t>È stata presentata una formulazione MILP del problema</a:t>
            </a:r>
          </a:p>
          <a:p>
            <a:pPr algn="l">
              <a:buFont typeface="Arial" panose="020B0604020202020204" pitchFamily="34" charset="0"/>
              <a:buChar char="•"/>
            </a:pPr>
            <a:r>
              <a:rPr lang="it-IT" sz="1800" dirty="0">
                <a:solidFill>
                  <a:srgbClr val="374151"/>
                </a:solidFill>
                <a:latin typeface="Helvetica" panose="020B0604020202020204" pitchFamily="34" charset="0"/>
                <a:cs typeface="Helvetica" panose="020B0604020202020204" pitchFamily="34" charset="0"/>
              </a:rPr>
              <a:t>Gli obiettivi multipli del problema sono stati rappresentati tramite una funzione obiettivo aggregata</a:t>
            </a:r>
          </a:p>
          <a:p>
            <a:pPr algn="l">
              <a:buFont typeface="Arial" panose="020B0604020202020204" pitchFamily="34" charset="0"/>
              <a:buChar char="•"/>
            </a:pPr>
            <a:r>
              <a:rPr lang="it-IT" sz="1800" dirty="0">
                <a:solidFill>
                  <a:srgbClr val="374151"/>
                </a:solidFill>
                <a:latin typeface="Helvetica" panose="020B0604020202020204" pitchFamily="34" charset="0"/>
                <a:cs typeface="Helvetica" panose="020B0604020202020204" pitchFamily="34" charset="0"/>
              </a:rPr>
              <a:t>È stata esaminata un’istanza del problema in diversi scenari</a:t>
            </a:r>
          </a:p>
          <a:p>
            <a:pPr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Gestione del numero di droni e dei costi in risposta alle condizioni operative</a:t>
            </a:r>
          </a:p>
          <a:p>
            <a:pPr algn="l">
              <a:buFont typeface="Arial" panose="020B0604020202020204" pitchFamily="34" charset="0"/>
              <a:buChar char="•"/>
            </a:pPr>
            <a:r>
              <a:rPr lang="it-IT" sz="1800" b="0" i="0" dirty="0">
                <a:solidFill>
                  <a:srgbClr val="374151"/>
                </a:solidFill>
                <a:effectLst/>
                <a:latin typeface="Helvetica" panose="020B0604020202020204" pitchFamily="34" charset="0"/>
                <a:cs typeface="Helvetica" panose="020B0604020202020204" pitchFamily="34" charset="0"/>
              </a:rPr>
              <a:t>Ottimizzazione dell'allocazione dei droni per garantire la rivisita frequente dei task critici</a:t>
            </a:r>
            <a:endParaRPr lang="it-IT" sz="1800" dirty="0">
              <a:solidFill>
                <a:srgbClr val="374151"/>
              </a:solidFill>
              <a:latin typeface="Helvetica" panose="020B0604020202020204" pitchFamily="34" charset="0"/>
              <a:cs typeface="Helvetica" panose="020B0604020202020204" pitchFamily="34" charset="0"/>
            </a:endParaRPr>
          </a:p>
        </p:txBody>
      </p:sp>
      <p:sp>
        <p:nvSpPr>
          <p:cNvPr id="2" name="Segnaposto contenuto 2">
            <a:extLst>
              <a:ext uri="{FF2B5EF4-FFF2-40B4-BE49-F238E27FC236}">
                <a16:creationId xmlns:a16="http://schemas.microsoft.com/office/drawing/2014/main" id="{DB550E8B-FF9B-D4B8-08B1-EE20158F31D2}"/>
              </a:ext>
            </a:extLst>
          </p:cNvPr>
          <p:cNvSpPr txBox="1">
            <a:spLocks/>
          </p:cNvSpPr>
          <p:nvPr/>
        </p:nvSpPr>
        <p:spPr>
          <a:xfrm>
            <a:off x="838200" y="4553776"/>
            <a:ext cx="10936266" cy="10385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sz="1800" b="1" dirty="0">
                <a:solidFill>
                  <a:srgbClr val="374151"/>
                </a:solidFill>
                <a:latin typeface="Helvetica" panose="020B0604020202020204" pitchFamily="34" charset="0"/>
                <a:cs typeface="Helvetica" panose="020B0604020202020204" pitchFamily="34" charset="0"/>
              </a:rPr>
              <a:t>Sviluppi futuri</a:t>
            </a:r>
          </a:p>
          <a:p>
            <a:r>
              <a:rPr lang="it-IT" sz="1800" dirty="0">
                <a:solidFill>
                  <a:srgbClr val="374151"/>
                </a:solidFill>
                <a:latin typeface="Helvetica" panose="020B0604020202020204" pitchFamily="34" charset="0"/>
                <a:cs typeface="Helvetica" panose="020B0604020202020204" pitchFamily="34" charset="0"/>
              </a:rPr>
              <a:t>Considerazione dell'incertezza nella matrice dei tempi di viaggio tra i task</a:t>
            </a:r>
          </a:p>
          <a:p>
            <a:r>
              <a:rPr lang="it-IT" sz="1800" dirty="0">
                <a:solidFill>
                  <a:srgbClr val="374151"/>
                </a:solidFill>
                <a:latin typeface="Helvetica" panose="020B0604020202020204" pitchFamily="34" charset="0"/>
                <a:cs typeface="Helvetica" panose="020B0604020202020204" pitchFamily="34" charset="0"/>
              </a:rPr>
              <a:t>Gestione dell’incertezza con programmazione lineare stocastica a due stadi con ricorso.</a:t>
            </a:r>
          </a:p>
        </p:txBody>
      </p:sp>
    </p:spTree>
    <p:extLst>
      <p:ext uri="{BB962C8B-B14F-4D97-AF65-F5344CB8AC3E}">
        <p14:creationId xmlns:p14="http://schemas.microsoft.com/office/powerpoint/2010/main" val="67384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extLst>
              <a:ext uri="{837473B0-CC2E-450A-ABE3-18F120FF3D39}">
                <a1611:picAttrSrcUrl xmlns:a1611="http://schemas.microsoft.com/office/drawing/2016/11/main" r:id="rId4"/>
              </a:ext>
            </a:extLst>
          </a:blip>
          <a:srcRect/>
          <a:stretch>
            <a:fillRect t="-6000" b="-6000"/>
          </a:stretch>
        </a:blip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863A3C3-FCC5-D9C7-000B-1290075A3DD5}"/>
              </a:ext>
            </a:extLst>
          </p:cNvPr>
          <p:cNvSpPr/>
          <p:nvPr/>
        </p:nvSpPr>
        <p:spPr>
          <a:xfrm>
            <a:off x="0" y="172800"/>
            <a:ext cx="12192000" cy="651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b="1" dirty="0">
              <a:ln w="22225">
                <a:solidFill>
                  <a:schemeClr val="accent2"/>
                </a:solidFill>
                <a:prstDash val="solid"/>
              </a:ln>
              <a:solidFill>
                <a:schemeClr val="accent2">
                  <a:lumMod val="40000"/>
                  <a:lumOff val="60000"/>
                </a:schemeClr>
              </a:solidFill>
            </a:endParaRPr>
          </a:p>
        </p:txBody>
      </p:sp>
      <p:sp>
        <p:nvSpPr>
          <p:cNvPr id="4" name="Titolo 1">
            <a:extLst>
              <a:ext uri="{FF2B5EF4-FFF2-40B4-BE49-F238E27FC236}">
                <a16:creationId xmlns:a16="http://schemas.microsoft.com/office/drawing/2014/main" id="{1F3A68CA-CD45-DFCF-685E-8CD8C9EDE8E6}"/>
              </a:ext>
            </a:extLst>
          </p:cNvPr>
          <p:cNvSpPr>
            <a:spLocks noGrp="1"/>
          </p:cNvSpPr>
          <p:nvPr>
            <p:ph type="title"/>
          </p:nvPr>
        </p:nvSpPr>
        <p:spPr>
          <a:xfrm>
            <a:off x="2174952" y="2766219"/>
            <a:ext cx="7842096" cy="1325563"/>
          </a:xfrm>
        </p:spPr>
        <p:txBody>
          <a:bodyPr>
            <a:normAutofit/>
          </a:bodyPr>
          <a:lstStyle/>
          <a:p>
            <a:r>
              <a:rPr lang="it-IT" b="1" dirty="0">
                <a:latin typeface="Helvetica" panose="020B0604020202020204" pitchFamily="34" charset="0"/>
                <a:cs typeface="Helvetica" panose="020B0604020202020204" pitchFamily="34" charset="0"/>
              </a:rPr>
              <a:t>GRAZIE PER L’ATTENZIONE</a:t>
            </a:r>
            <a:endParaRPr lang="it-IT" b="1" dirty="0"/>
          </a:p>
        </p:txBody>
      </p:sp>
    </p:spTree>
    <p:extLst>
      <p:ext uri="{BB962C8B-B14F-4D97-AF65-F5344CB8AC3E}">
        <p14:creationId xmlns:p14="http://schemas.microsoft.com/office/powerpoint/2010/main" val="107748194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4059</Words>
  <Application>Microsoft Office PowerPoint</Application>
  <PresentationFormat>Widescreen</PresentationFormat>
  <Paragraphs>311</Paragraphs>
  <Slides>22</Slides>
  <Notes>22</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22</vt:i4>
      </vt:variant>
    </vt:vector>
  </HeadingPairs>
  <TitlesOfParts>
    <vt:vector size="29" baseType="lpstr">
      <vt:lpstr>Arial</vt:lpstr>
      <vt:lpstr>Calibri</vt:lpstr>
      <vt:lpstr>Calibri Light</vt:lpstr>
      <vt:lpstr>Cambria Math</vt:lpstr>
      <vt:lpstr>Helvetica</vt:lpstr>
      <vt:lpstr>Söhne</vt:lpstr>
      <vt:lpstr>Tema di Office</vt:lpstr>
      <vt:lpstr>Ottimizzazione Multi-Obiettivo per il Routing di UAV in Missioni PISR con Incertezza</vt:lpstr>
      <vt:lpstr>Sommario</vt:lpstr>
      <vt:lpstr>Introduzione</vt:lpstr>
      <vt:lpstr>Descrizione del problema</vt:lpstr>
      <vt:lpstr>Presentazione standard di PowerPoint</vt:lpstr>
      <vt:lpstr>Obiettivo</vt:lpstr>
      <vt:lpstr>Formulazione del problema</vt:lpstr>
      <vt:lpstr>Notazione del problema</vt:lpstr>
      <vt:lpstr>Variabili decisionali</vt:lpstr>
      <vt:lpstr>Funzione obiettivo</vt:lpstr>
      <vt:lpstr>Vincoli</vt:lpstr>
      <vt:lpstr>Funzione multi-obiettivo</vt:lpstr>
      <vt:lpstr>Istanza del problema di ottimizzazione</vt:lpstr>
      <vt:lpstr>Modello di ottimizzazione robusta assoluta</vt:lpstr>
      <vt:lpstr>Ottimizzazione</vt:lpstr>
      <vt:lpstr>Risultati scenario ottimistico</vt:lpstr>
      <vt:lpstr>Risultati scenario medio</vt:lpstr>
      <vt:lpstr>Risultati scenario pessimistico</vt:lpstr>
      <vt:lpstr>Risultati ottimizzazione robusta</vt:lpstr>
      <vt:lpstr>Analisi dei risultati</vt:lpstr>
      <vt:lpstr>Conclusioni</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ABBATICCHIO MICHELE</dc:creator>
  <cp:lastModifiedBy>ABBATICCHIO MICHELE</cp:lastModifiedBy>
  <cp:revision>65</cp:revision>
  <dcterms:created xsi:type="dcterms:W3CDTF">2023-11-18T11:04:38Z</dcterms:created>
  <dcterms:modified xsi:type="dcterms:W3CDTF">2023-12-19T23:09:05Z</dcterms:modified>
</cp:coreProperties>
</file>